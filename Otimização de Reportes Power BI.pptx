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28"/>
  </p:notesMasterIdLst>
  <p:sldIdLst>
    <p:sldId id="256" r:id="rId2"/>
    <p:sldId id="2147483646" r:id="rId3"/>
    <p:sldId id="274" r:id="rId4"/>
    <p:sldId id="2147483639" r:id="rId5"/>
    <p:sldId id="257" r:id="rId6"/>
    <p:sldId id="258" r:id="rId7"/>
    <p:sldId id="2147483640" r:id="rId8"/>
    <p:sldId id="270" r:id="rId9"/>
    <p:sldId id="271" r:id="rId10"/>
    <p:sldId id="275" r:id="rId11"/>
    <p:sldId id="2147483641" r:id="rId12"/>
    <p:sldId id="272" r:id="rId13"/>
    <p:sldId id="2147483644" r:id="rId14"/>
    <p:sldId id="263" r:id="rId15"/>
    <p:sldId id="261" r:id="rId16"/>
    <p:sldId id="264" r:id="rId17"/>
    <p:sldId id="262" r:id="rId18"/>
    <p:sldId id="265" r:id="rId19"/>
    <p:sldId id="267" r:id="rId20"/>
    <p:sldId id="268" r:id="rId21"/>
    <p:sldId id="266" r:id="rId22"/>
    <p:sldId id="269" r:id="rId23"/>
    <p:sldId id="259" r:id="rId24"/>
    <p:sldId id="260" r:id="rId25"/>
    <p:sldId id="2147483642" r:id="rId26"/>
    <p:sldId id="2147483647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D8843A"/>
    <a:srgbClr val="3FBEB0"/>
    <a:srgbClr val="57C5A5"/>
    <a:srgbClr val="53BBF4"/>
    <a:srgbClr val="14395E"/>
    <a:srgbClr val="58C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6242" autoAdjust="0"/>
  </p:normalViewPr>
  <p:slideViewPr>
    <p:cSldViewPr snapToGrid="0">
      <p:cViewPr varScale="1">
        <p:scale>
          <a:sx n="106" d="100"/>
          <a:sy n="106" d="100"/>
        </p:scale>
        <p:origin x="67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de Lima Masson Guimarães" userId="1b5e9e2c-7090-4e44-821f-f19f4d16661a" providerId="ADAL" clId="{7D9552FA-52A6-476F-A8F0-3D9BC8BAF617}"/>
    <pc:docChg chg="undo redo custSel addSld delSld modSld">
      <pc:chgData name="Marta de Lima Masson Guimarães" userId="1b5e9e2c-7090-4e44-821f-f19f4d16661a" providerId="ADAL" clId="{7D9552FA-52A6-476F-A8F0-3D9BC8BAF617}" dt="2026-06-24T14:37:17.605" v="4796" actId="47"/>
      <pc:docMkLst>
        <pc:docMk/>
      </pc:docMkLst>
      <pc:sldChg chg="addSp delSp modSp new del mod modAnim">
        <pc:chgData name="Marta de Lima Masson Guimarães" userId="1b5e9e2c-7090-4e44-821f-f19f4d16661a" providerId="ADAL" clId="{7D9552FA-52A6-476F-A8F0-3D9BC8BAF617}" dt="2026-06-24T14:37:17.605" v="4796" actId="47"/>
        <pc:sldMkLst>
          <pc:docMk/>
          <pc:sldMk cId="190438370" sldId="27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48903D-7A55-41F7-A10A-36AABBEE83FD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8BF62BA-1981-4BCC-AFEE-E734477750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Processo</a:t>
          </a:r>
          <a:r>
            <a:rPr lang="en-US" dirty="0"/>
            <a:t> </a:t>
          </a:r>
          <a:r>
            <a:rPr lang="en-US" dirty="0" err="1"/>
            <a:t>contínuo</a:t>
          </a:r>
          <a:br>
            <a:rPr lang="en-US" dirty="0"/>
          </a:br>
          <a:endParaRPr lang="en-US" dirty="0"/>
        </a:p>
      </dgm:t>
    </dgm:pt>
    <dgm:pt modelId="{07C5580A-C699-44F8-B9F8-C3F0091C258E}" type="parTrans" cxnId="{9BD62F62-4530-426C-A478-DC3FAD2DF476}">
      <dgm:prSet/>
      <dgm:spPr/>
      <dgm:t>
        <a:bodyPr/>
        <a:lstStyle/>
        <a:p>
          <a:endParaRPr lang="pt-BR"/>
        </a:p>
      </dgm:t>
    </dgm:pt>
    <dgm:pt modelId="{D1B84ABC-313F-4A82-BBD6-2B882D0570D0}" type="sibTrans" cxnId="{9BD62F62-4530-426C-A478-DC3FAD2DF476}">
      <dgm:prSet/>
      <dgm:spPr/>
      <dgm:t>
        <a:bodyPr/>
        <a:lstStyle/>
        <a:p>
          <a:endParaRPr lang="pt-BR"/>
        </a:p>
      </dgm:t>
    </dgm:pt>
    <dgm:pt modelId="{F93980C3-67BD-4F70-BEB8-348BFC5BA7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Plena </a:t>
          </a:r>
          <a:r>
            <a:rPr lang="en-US" dirty="0" err="1"/>
            <a:t>adoção</a:t>
          </a:r>
          <a:r>
            <a:rPr lang="en-US" dirty="0"/>
            <a:t> do time</a:t>
          </a:r>
        </a:p>
      </dgm:t>
    </dgm:pt>
    <dgm:pt modelId="{1B5165F0-6CBA-458D-B7E5-A02C461B647D}" type="parTrans" cxnId="{7E22823F-3B9C-48BA-8072-3A24B5108821}">
      <dgm:prSet/>
      <dgm:spPr/>
      <dgm:t>
        <a:bodyPr/>
        <a:lstStyle/>
        <a:p>
          <a:endParaRPr lang="pt-BR"/>
        </a:p>
      </dgm:t>
    </dgm:pt>
    <dgm:pt modelId="{6A141650-FC05-42A4-9591-CBE46CF31938}" type="sibTrans" cxnId="{7E22823F-3B9C-48BA-8072-3A24B5108821}">
      <dgm:prSet/>
      <dgm:spPr/>
      <dgm:t>
        <a:bodyPr/>
        <a:lstStyle/>
        <a:p>
          <a:endParaRPr lang="pt-BR"/>
        </a:p>
      </dgm:t>
    </dgm:pt>
    <dgm:pt modelId="{DDD7370B-B664-42E8-943E-CA08530522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Aprimoramento</a:t>
          </a:r>
          <a:r>
            <a:rPr lang="en-US" dirty="0"/>
            <a:t> a </a:t>
          </a:r>
          <a:r>
            <a:rPr lang="en-US" dirty="0" err="1"/>
            <a:t>cada</a:t>
          </a:r>
          <a:r>
            <a:rPr lang="en-US" dirty="0"/>
            <a:t> </a:t>
          </a:r>
          <a:r>
            <a:rPr lang="en-US" dirty="0" err="1"/>
            <a:t>iteração</a:t>
          </a:r>
          <a:endParaRPr lang="en-US" dirty="0"/>
        </a:p>
      </dgm:t>
    </dgm:pt>
    <dgm:pt modelId="{68D13662-5AC0-4B64-A168-97070B65AE1D}" type="parTrans" cxnId="{6138BD3E-739C-41F4-B9A4-21B5F3312EB1}">
      <dgm:prSet/>
      <dgm:spPr/>
      <dgm:t>
        <a:bodyPr/>
        <a:lstStyle/>
        <a:p>
          <a:endParaRPr lang="pt-BR"/>
        </a:p>
      </dgm:t>
    </dgm:pt>
    <dgm:pt modelId="{15B6DFDE-C712-4997-B83A-4575A635A9F6}" type="sibTrans" cxnId="{6138BD3E-739C-41F4-B9A4-21B5F3312EB1}">
      <dgm:prSet/>
      <dgm:spPr/>
      <dgm:t>
        <a:bodyPr/>
        <a:lstStyle/>
        <a:p>
          <a:endParaRPr lang="pt-BR"/>
        </a:p>
      </dgm:t>
    </dgm:pt>
    <dgm:pt modelId="{90B6D37B-92B7-4BD7-805A-EED08EDBFE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Objetivos</a:t>
          </a:r>
          <a:r>
            <a:rPr lang="en-US" dirty="0"/>
            <a:t> claros e </a:t>
          </a:r>
          <a:r>
            <a:rPr lang="en-US" dirty="0" err="1"/>
            <a:t>mensuráveis</a:t>
          </a:r>
          <a:endParaRPr lang="en-US" dirty="0"/>
        </a:p>
      </dgm:t>
    </dgm:pt>
    <dgm:pt modelId="{EBDD8630-A092-4CB0-B2B1-A0AB17AF6860}" type="parTrans" cxnId="{40C35D6A-6039-4E5F-BD5B-9016F07BAA82}">
      <dgm:prSet/>
      <dgm:spPr/>
      <dgm:t>
        <a:bodyPr/>
        <a:lstStyle/>
        <a:p>
          <a:endParaRPr lang="pt-BR"/>
        </a:p>
      </dgm:t>
    </dgm:pt>
    <dgm:pt modelId="{F8879524-EE41-4063-84D0-60DABB5F1991}" type="sibTrans" cxnId="{40C35D6A-6039-4E5F-BD5B-9016F07BAA82}">
      <dgm:prSet/>
      <dgm:spPr/>
      <dgm:t>
        <a:bodyPr/>
        <a:lstStyle/>
        <a:p>
          <a:endParaRPr lang="pt-BR"/>
        </a:p>
      </dgm:t>
    </dgm:pt>
    <dgm:pt modelId="{E4B15EF3-455E-42CD-BF9B-433777CC32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Ações</a:t>
          </a:r>
          <a:r>
            <a:rPr lang="en-US" dirty="0"/>
            <a:t> </a:t>
          </a:r>
          <a:r>
            <a:rPr lang="en-US" dirty="0" err="1"/>
            <a:t>intensionais</a:t>
          </a:r>
          <a:endParaRPr lang="en-US" dirty="0"/>
        </a:p>
      </dgm:t>
    </dgm:pt>
    <dgm:pt modelId="{2E4D5C26-200B-462A-83CC-3DCFFAEF8A51}" type="parTrans" cxnId="{842B55F7-F34A-482B-9567-89F7D002A02B}">
      <dgm:prSet/>
      <dgm:spPr/>
      <dgm:t>
        <a:bodyPr/>
        <a:lstStyle/>
        <a:p>
          <a:endParaRPr lang="pt-BR"/>
        </a:p>
      </dgm:t>
    </dgm:pt>
    <dgm:pt modelId="{28CC50B1-709E-455C-BF67-EB25ED84B6B2}" type="sibTrans" cxnId="{842B55F7-F34A-482B-9567-89F7D002A02B}">
      <dgm:prSet/>
      <dgm:spPr/>
      <dgm:t>
        <a:bodyPr/>
        <a:lstStyle/>
        <a:p>
          <a:endParaRPr lang="pt-BR"/>
        </a:p>
      </dgm:t>
    </dgm:pt>
    <dgm:pt modelId="{7FBFA507-E526-4822-BDB9-17D981EAE9EF}" type="pres">
      <dgm:prSet presAssocID="{3448903D-7A55-41F7-A10A-36AABBEE83FD}" presName="root" presStyleCnt="0">
        <dgm:presLayoutVars>
          <dgm:dir/>
          <dgm:resizeHandles val="exact"/>
        </dgm:presLayoutVars>
      </dgm:prSet>
      <dgm:spPr/>
    </dgm:pt>
    <dgm:pt modelId="{E9D9C7F5-37E7-4171-A0A9-C2467D1F1057}" type="pres">
      <dgm:prSet presAssocID="{A8BF62BA-1981-4BCC-AFEE-E73447775034}" presName="compNode" presStyleCnt="0"/>
      <dgm:spPr/>
    </dgm:pt>
    <dgm:pt modelId="{4F3AD997-FA1A-4053-9BC4-5C5EA5FE9D03}" type="pres">
      <dgm:prSet presAssocID="{A8BF62BA-1981-4BCC-AFEE-E73447775034}" presName="iconRect" presStyleLbl="node1" presStyleIdx="0" presStyleCnt="5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FFD66E1A-BC26-48F1-A0E0-9CAE6023173E}" type="pres">
      <dgm:prSet presAssocID="{A8BF62BA-1981-4BCC-AFEE-E73447775034}" presName="spaceRect" presStyleCnt="0"/>
      <dgm:spPr/>
    </dgm:pt>
    <dgm:pt modelId="{D47F3D48-AFA2-48F3-A282-66C9A7BE984C}" type="pres">
      <dgm:prSet presAssocID="{A8BF62BA-1981-4BCC-AFEE-E73447775034}" presName="textRect" presStyleLbl="revTx" presStyleIdx="0" presStyleCnt="5">
        <dgm:presLayoutVars>
          <dgm:chMax val="1"/>
          <dgm:chPref val="1"/>
        </dgm:presLayoutVars>
      </dgm:prSet>
      <dgm:spPr/>
    </dgm:pt>
    <dgm:pt modelId="{7200F8C8-5233-470A-8534-932284FE78A9}" type="pres">
      <dgm:prSet presAssocID="{D1B84ABC-313F-4A82-BBD6-2B882D0570D0}" presName="sibTrans" presStyleCnt="0"/>
      <dgm:spPr/>
    </dgm:pt>
    <dgm:pt modelId="{5F70F79E-B29B-4F95-9ED1-840E90F1819C}" type="pres">
      <dgm:prSet presAssocID="{DDD7370B-B664-42E8-943E-CA0853052278}" presName="compNode" presStyleCnt="0"/>
      <dgm:spPr/>
    </dgm:pt>
    <dgm:pt modelId="{62DD4149-C018-412C-ABE4-F8BB3D5579EB}" type="pres">
      <dgm:prSet presAssocID="{DDD7370B-B664-42E8-943E-CA0853052278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C9F15B36-56AE-4419-A225-007B3D4A60A0}" type="pres">
      <dgm:prSet presAssocID="{DDD7370B-B664-42E8-943E-CA0853052278}" presName="spaceRect" presStyleCnt="0"/>
      <dgm:spPr/>
    </dgm:pt>
    <dgm:pt modelId="{ACD9CAB5-358B-422D-82DC-AE515651EF5D}" type="pres">
      <dgm:prSet presAssocID="{DDD7370B-B664-42E8-943E-CA0853052278}" presName="textRect" presStyleLbl="revTx" presStyleIdx="1" presStyleCnt="5">
        <dgm:presLayoutVars>
          <dgm:chMax val="1"/>
          <dgm:chPref val="1"/>
        </dgm:presLayoutVars>
      </dgm:prSet>
      <dgm:spPr/>
    </dgm:pt>
    <dgm:pt modelId="{C3074497-4905-44E0-B9F0-7CE4D717004F}" type="pres">
      <dgm:prSet presAssocID="{15B6DFDE-C712-4997-B83A-4575A635A9F6}" presName="sibTrans" presStyleCnt="0"/>
      <dgm:spPr/>
    </dgm:pt>
    <dgm:pt modelId="{931BBC98-DB1B-40B9-B030-C166475C1256}" type="pres">
      <dgm:prSet presAssocID="{F93980C3-67BD-4F70-BEB8-348BFC5BA73C}" presName="compNode" presStyleCnt="0"/>
      <dgm:spPr/>
    </dgm:pt>
    <dgm:pt modelId="{0A96DA39-CC49-4314-9ACE-E8F0B665594A}" type="pres">
      <dgm:prSet presAssocID="{F93980C3-67BD-4F70-BEB8-348BFC5BA73C}" presName="iconRect" presStyleLbl="node1" presStyleIdx="2" presStyleCnt="5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 with solid fill"/>
        </a:ext>
      </dgm:extLst>
    </dgm:pt>
    <dgm:pt modelId="{1F7382D5-305F-4271-827E-313326DCCF14}" type="pres">
      <dgm:prSet presAssocID="{F93980C3-67BD-4F70-BEB8-348BFC5BA73C}" presName="spaceRect" presStyleCnt="0"/>
      <dgm:spPr/>
    </dgm:pt>
    <dgm:pt modelId="{2111848E-7B93-4FC6-AA2B-8C4D63C47E57}" type="pres">
      <dgm:prSet presAssocID="{F93980C3-67BD-4F70-BEB8-348BFC5BA73C}" presName="textRect" presStyleLbl="revTx" presStyleIdx="2" presStyleCnt="5">
        <dgm:presLayoutVars>
          <dgm:chMax val="1"/>
          <dgm:chPref val="1"/>
        </dgm:presLayoutVars>
      </dgm:prSet>
      <dgm:spPr/>
    </dgm:pt>
    <dgm:pt modelId="{A544A26F-4365-4F61-A62D-05B60AA7F72C}" type="pres">
      <dgm:prSet presAssocID="{6A141650-FC05-42A4-9591-CBE46CF31938}" presName="sibTrans" presStyleCnt="0"/>
      <dgm:spPr/>
    </dgm:pt>
    <dgm:pt modelId="{41133E5B-E55D-449A-8D4D-6898F38D6E19}" type="pres">
      <dgm:prSet presAssocID="{90B6D37B-92B7-4BD7-805A-EED08EDBFE96}" presName="compNode" presStyleCnt="0"/>
      <dgm:spPr/>
    </dgm:pt>
    <dgm:pt modelId="{82143FE3-324E-4D78-8344-AF40F0242ADF}" type="pres">
      <dgm:prSet presAssocID="{90B6D37B-92B7-4BD7-805A-EED08EDBFE96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FD0DBAF1-2569-417B-9710-E3EBE51F1197}" type="pres">
      <dgm:prSet presAssocID="{90B6D37B-92B7-4BD7-805A-EED08EDBFE96}" presName="spaceRect" presStyleCnt="0"/>
      <dgm:spPr/>
    </dgm:pt>
    <dgm:pt modelId="{FF50297C-C266-4D10-BFD1-C4E2ED72DFF6}" type="pres">
      <dgm:prSet presAssocID="{90B6D37B-92B7-4BD7-805A-EED08EDBFE96}" presName="textRect" presStyleLbl="revTx" presStyleIdx="3" presStyleCnt="5">
        <dgm:presLayoutVars>
          <dgm:chMax val="1"/>
          <dgm:chPref val="1"/>
        </dgm:presLayoutVars>
      </dgm:prSet>
      <dgm:spPr/>
    </dgm:pt>
    <dgm:pt modelId="{1F85498B-9776-4301-8578-B603586EF9F1}" type="pres">
      <dgm:prSet presAssocID="{F8879524-EE41-4063-84D0-60DABB5F1991}" presName="sibTrans" presStyleCnt="0"/>
      <dgm:spPr/>
    </dgm:pt>
    <dgm:pt modelId="{739061BF-6D93-4173-B3BB-C26E638915C5}" type="pres">
      <dgm:prSet presAssocID="{E4B15EF3-455E-42CD-BF9B-433777CC3277}" presName="compNode" presStyleCnt="0"/>
      <dgm:spPr/>
    </dgm:pt>
    <dgm:pt modelId="{FC330E04-7589-4257-BFEB-FB9F22656AD5}" type="pres">
      <dgm:prSet presAssocID="{E4B15EF3-455E-42CD-BF9B-433777CC3277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 with solid fill"/>
        </a:ext>
      </dgm:extLst>
    </dgm:pt>
    <dgm:pt modelId="{FCEC5D72-C6E7-4F5F-AE06-8C068DE08965}" type="pres">
      <dgm:prSet presAssocID="{E4B15EF3-455E-42CD-BF9B-433777CC3277}" presName="spaceRect" presStyleCnt="0"/>
      <dgm:spPr/>
    </dgm:pt>
    <dgm:pt modelId="{21458D91-F7FA-40E0-8AF5-F72C03CFCDEA}" type="pres">
      <dgm:prSet presAssocID="{E4B15EF3-455E-42CD-BF9B-433777CC327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6521924-591C-4729-A884-5C3E9C29C9FA}" type="presOf" srcId="{DDD7370B-B664-42E8-943E-CA0853052278}" destId="{ACD9CAB5-358B-422D-82DC-AE515651EF5D}" srcOrd="0" destOrd="0" presId="urn:microsoft.com/office/officeart/2018/2/layout/IconLabelList"/>
    <dgm:cxn modelId="{6138BD3E-739C-41F4-B9A4-21B5F3312EB1}" srcId="{3448903D-7A55-41F7-A10A-36AABBEE83FD}" destId="{DDD7370B-B664-42E8-943E-CA0853052278}" srcOrd="1" destOrd="0" parTransId="{68D13662-5AC0-4B64-A168-97070B65AE1D}" sibTransId="{15B6DFDE-C712-4997-B83A-4575A635A9F6}"/>
    <dgm:cxn modelId="{7E22823F-3B9C-48BA-8072-3A24B5108821}" srcId="{3448903D-7A55-41F7-A10A-36AABBEE83FD}" destId="{F93980C3-67BD-4F70-BEB8-348BFC5BA73C}" srcOrd="2" destOrd="0" parTransId="{1B5165F0-6CBA-458D-B7E5-A02C461B647D}" sibTransId="{6A141650-FC05-42A4-9591-CBE46CF31938}"/>
    <dgm:cxn modelId="{3B695740-BE19-4D1D-8CC6-9612569D65C4}" type="presOf" srcId="{3448903D-7A55-41F7-A10A-36AABBEE83FD}" destId="{7FBFA507-E526-4822-BDB9-17D981EAE9EF}" srcOrd="0" destOrd="0" presId="urn:microsoft.com/office/officeart/2018/2/layout/IconLabelList"/>
    <dgm:cxn modelId="{9BD62F62-4530-426C-A478-DC3FAD2DF476}" srcId="{3448903D-7A55-41F7-A10A-36AABBEE83FD}" destId="{A8BF62BA-1981-4BCC-AFEE-E73447775034}" srcOrd="0" destOrd="0" parTransId="{07C5580A-C699-44F8-B9F8-C3F0091C258E}" sibTransId="{D1B84ABC-313F-4A82-BBD6-2B882D0570D0}"/>
    <dgm:cxn modelId="{47E7C762-FFD3-4563-8BAE-6DB828AA03CD}" type="presOf" srcId="{F93980C3-67BD-4F70-BEB8-348BFC5BA73C}" destId="{2111848E-7B93-4FC6-AA2B-8C4D63C47E57}" srcOrd="0" destOrd="0" presId="urn:microsoft.com/office/officeart/2018/2/layout/IconLabelList"/>
    <dgm:cxn modelId="{40C35D6A-6039-4E5F-BD5B-9016F07BAA82}" srcId="{3448903D-7A55-41F7-A10A-36AABBEE83FD}" destId="{90B6D37B-92B7-4BD7-805A-EED08EDBFE96}" srcOrd="3" destOrd="0" parTransId="{EBDD8630-A092-4CB0-B2B1-A0AB17AF6860}" sibTransId="{F8879524-EE41-4063-84D0-60DABB5F1991}"/>
    <dgm:cxn modelId="{B9736150-A182-4217-9296-93E82E08F79D}" type="presOf" srcId="{A8BF62BA-1981-4BCC-AFEE-E73447775034}" destId="{D47F3D48-AFA2-48F3-A282-66C9A7BE984C}" srcOrd="0" destOrd="0" presId="urn:microsoft.com/office/officeart/2018/2/layout/IconLabelList"/>
    <dgm:cxn modelId="{C3A6858C-7606-4E1C-A3F9-947936C5F9AB}" type="presOf" srcId="{E4B15EF3-455E-42CD-BF9B-433777CC3277}" destId="{21458D91-F7FA-40E0-8AF5-F72C03CFCDEA}" srcOrd="0" destOrd="0" presId="urn:microsoft.com/office/officeart/2018/2/layout/IconLabelList"/>
    <dgm:cxn modelId="{EF41D3E5-2CDC-434C-830E-313CD4098765}" type="presOf" srcId="{90B6D37B-92B7-4BD7-805A-EED08EDBFE96}" destId="{FF50297C-C266-4D10-BFD1-C4E2ED72DFF6}" srcOrd="0" destOrd="0" presId="urn:microsoft.com/office/officeart/2018/2/layout/IconLabelList"/>
    <dgm:cxn modelId="{842B55F7-F34A-482B-9567-89F7D002A02B}" srcId="{3448903D-7A55-41F7-A10A-36AABBEE83FD}" destId="{E4B15EF3-455E-42CD-BF9B-433777CC3277}" srcOrd="4" destOrd="0" parTransId="{2E4D5C26-200B-462A-83CC-3DCFFAEF8A51}" sibTransId="{28CC50B1-709E-455C-BF67-EB25ED84B6B2}"/>
    <dgm:cxn modelId="{870350F3-489E-42B2-A2E7-C686A5835F5D}" type="presParOf" srcId="{7FBFA507-E526-4822-BDB9-17D981EAE9EF}" destId="{E9D9C7F5-37E7-4171-A0A9-C2467D1F1057}" srcOrd="0" destOrd="0" presId="urn:microsoft.com/office/officeart/2018/2/layout/IconLabelList"/>
    <dgm:cxn modelId="{616243B9-73CA-4B82-B59B-DD88916B8751}" type="presParOf" srcId="{E9D9C7F5-37E7-4171-A0A9-C2467D1F1057}" destId="{4F3AD997-FA1A-4053-9BC4-5C5EA5FE9D03}" srcOrd="0" destOrd="0" presId="urn:microsoft.com/office/officeart/2018/2/layout/IconLabelList"/>
    <dgm:cxn modelId="{860BBAA2-A296-4CA2-8771-26C0A4355C13}" type="presParOf" srcId="{E9D9C7F5-37E7-4171-A0A9-C2467D1F1057}" destId="{FFD66E1A-BC26-48F1-A0E0-9CAE6023173E}" srcOrd="1" destOrd="0" presId="urn:microsoft.com/office/officeart/2018/2/layout/IconLabelList"/>
    <dgm:cxn modelId="{0DF7802B-31B8-45EF-B296-110B54A594C8}" type="presParOf" srcId="{E9D9C7F5-37E7-4171-A0A9-C2467D1F1057}" destId="{D47F3D48-AFA2-48F3-A282-66C9A7BE984C}" srcOrd="2" destOrd="0" presId="urn:microsoft.com/office/officeart/2018/2/layout/IconLabelList"/>
    <dgm:cxn modelId="{BFB3D336-DBC3-4B8E-8C09-5FF26E8ABBEF}" type="presParOf" srcId="{7FBFA507-E526-4822-BDB9-17D981EAE9EF}" destId="{7200F8C8-5233-470A-8534-932284FE78A9}" srcOrd="1" destOrd="0" presId="urn:microsoft.com/office/officeart/2018/2/layout/IconLabelList"/>
    <dgm:cxn modelId="{AF55D806-0540-4F74-9884-0A355FB826A8}" type="presParOf" srcId="{7FBFA507-E526-4822-BDB9-17D981EAE9EF}" destId="{5F70F79E-B29B-4F95-9ED1-840E90F1819C}" srcOrd="2" destOrd="0" presId="urn:microsoft.com/office/officeart/2018/2/layout/IconLabelList"/>
    <dgm:cxn modelId="{C70D29CA-18A4-4CB2-BE8C-FEEE030A3188}" type="presParOf" srcId="{5F70F79E-B29B-4F95-9ED1-840E90F1819C}" destId="{62DD4149-C018-412C-ABE4-F8BB3D5579EB}" srcOrd="0" destOrd="0" presId="urn:microsoft.com/office/officeart/2018/2/layout/IconLabelList"/>
    <dgm:cxn modelId="{BA0EB624-0172-4489-A9CD-329A22A75E65}" type="presParOf" srcId="{5F70F79E-B29B-4F95-9ED1-840E90F1819C}" destId="{C9F15B36-56AE-4419-A225-007B3D4A60A0}" srcOrd="1" destOrd="0" presId="urn:microsoft.com/office/officeart/2018/2/layout/IconLabelList"/>
    <dgm:cxn modelId="{FF004B4A-5D59-4DBE-83C1-6F639C487200}" type="presParOf" srcId="{5F70F79E-B29B-4F95-9ED1-840E90F1819C}" destId="{ACD9CAB5-358B-422D-82DC-AE515651EF5D}" srcOrd="2" destOrd="0" presId="urn:microsoft.com/office/officeart/2018/2/layout/IconLabelList"/>
    <dgm:cxn modelId="{6943E6E3-1889-4ACE-981E-CFA0A0CB3790}" type="presParOf" srcId="{7FBFA507-E526-4822-BDB9-17D981EAE9EF}" destId="{C3074497-4905-44E0-B9F0-7CE4D717004F}" srcOrd="3" destOrd="0" presId="urn:microsoft.com/office/officeart/2018/2/layout/IconLabelList"/>
    <dgm:cxn modelId="{EB2E7972-A7A6-44DA-B70B-25831E230886}" type="presParOf" srcId="{7FBFA507-E526-4822-BDB9-17D981EAE9EF}" destId="{931BBC98-DB1B-40B9-B030-C166475C1256}" srcOrd="4" destOrd="0" presId="urn:microsoft.com/office/officeart/2018/2/layout/IconLabelList"/>
    <dgm:cxn modelId="{423BD9A1-36F7-46C5-9D44-7592EFC4D815}" type="presParOf" srcId="{931BBC98-DB1B-40B9-B030-C166475C1256}" destId="{0A96DA39-CC49-4314-9ACE-E8F0B665594A}" srcOrd="0" destOrd="0" presId="urn:microsoft.com/office/officeart/2018/2/layout/IconLabelList"/>
    <dgm:cxn modelId="{5C5D9FB9-9453-4DA8-94D0-FD744F7C6F5C}" type="presParOf" srcId="{931BBC98-DB1B-40B9-B030-C166475C1256}" destId="{1F7382D5-305F-4271-827E-313326DCCF14}" srcOrd="1" destOrd="0" presId="urn:microsoft.com/office/officeart/2018/2/layout/IconLabelList"/>
    <dgm:cxn modelId="{7D8667E1-ABBC-43F4-8041-E0E4FEE07F7D}" type="presParOf" srcId="{931BBC98-DB1B-40B9-B030-C166475C1256}" destId="{2111848E-7B93-4FC6-AA2B-8C4D63C47E57}" srcOrd="2" destOrd="0" presId="urn:microsoft.com/office/officeart/2018/2/layout/IconLabelList"/>
    <dgm:cxn modelId="{9B60EC49-BE9B-4D3D-9579-4B40432C7EB6}" type="presParOf" srcId="{7FBFA507-E526-4822-BDB9-17D981EAE9EF}" destId="{A544A26F-4365-4F61-A62D-05B60AA7F72C}" srcOrd="5" destOrd="0" presId="urn:microsoft.com/office/officeart/2018/2/layout/IconLabelList"/>
    <dgm:cxn modelId="{C5414493-A830-4FC3-9D7B-F9E875129EA7}" type="presParOf" srcId="{7FBFA507-E526-4822-BDB9-17D981EAE9EF}" destId="{41133E5B-E55D-449A-8D4D-6898F38D6E19}" srcOrd="6" destOrd="0" presId="urn:microsoft.com/office/officeart/2018/2/layout/IconLabelList"/>
    <dgm:cxn modelId="{BAD40513-E6CA-4B0B-A3C8-EF4D44DFB45F}" type="presParOf" srcId="{41133E5B-E55D-449A-8D4D-6898F38D6E19}" destId="{82143FE3-324E-4D78-8344-AF40F0242ADF}" srcOrd="0" destOrd="0" presId="urn:microsoft.com/office/officeart/2018/2/layout/IconLabelList"/>
    <dgm:cxn modelId="{5E913EE2-93A7-42E5-AC69-1F402BCC31E0}" type="presParOf" srcId="{41133E5B-E55D-449A-8D4D-6898F38D6E19}" destId="{FD0DBAF1-2569-417B-9710-E3EBE51F1197}" srcOrd="1" destOrd="0" presId="urn:microsoft.com/office/officeart/2018/2/layout/IconLabelList"/>
    <dgm:cxn modelId="{5460F6DC-5256-4CA4-AFEF-FF9F1D41D59E}" type="presParOf" srcId="{41133E5B-E55D-449A-8D4D-6898F38D6E19}" destId="{FF50297C-C266-4D10-BFD1-C4E2ED72DFF6}" srcOrd="2" destOrd="0" presId="urn:microsoft.com/office/officeart/2018/2/layout/IconLabelList"/>
    <dgm:cxn modelId="{EE80240A-F9A4-4829-B390-90AD59C2ABBC}" type="presParOf" srcId="{7FBFA507-E526-4822-BDB9-17D981EAE9EF}" destId="{1F85498B-9776-4301-8578-B603586EF9F1}" srcOrd="7" destOrd="0" presId="urn:microsoft.com/office/officeart/2018/2/layout/IconLabelList"/>
    <dgm:cxn modelId="{DA8858CE-DCEA-470B-B445-81FB432EF0A5}" type="presParOf" srcId="{7FBFA507-E526-4822-BDB9-17D981EAE9EF}" destId="{739061BF-6D93-4173-B3BB-C26E638915C5}" srcOrd="8" destOrd="0" presId="urn:microsoft.com/office/officeart/2018/2/layout/IconLabelList"/>
    <dgm:cxn modelId="{4D6D55E7-28E5-4E71-9D96-CE9FDE897AA3}" type="presParOf" srcId="{739061BF-6D93-4173-B3BB-C26E638915C5}" destId="{FC330E04-7589-4257-BFEB-FB9F22656AD5}" srcOrd="0" destOrd="0" presId="urn:microsoft.com/office/officeart/2018/2/layout/IconLabelList"/>
    <dgm:cxn modelId="{0A40E70F-2BA3-4ADD-90C5-36AFCAE08034}" type="presParOf" srcId="{739061BF-6D93-4173-B3BB-C26E638915C5}" destId="{FCEC5D72-C6E7-4F5F-AE06-8C068DE08965}" srcOrd="1" destOrd="0" presId="urn:microsoft.com/office/officeart/2018/2/layout/IconLabelList"/>
    <dgm:cxn modelId="{EE48B8EF-8A63-4677-809B-DA70A3A1604F}" type="presParOf" srcId="{739061BF-6D93-4173-B3BB-C26E638915C5}" destId="{21458D91-F7FA-40E0-8AF5-F72C03CFCDE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9B494B-9971-44F3-B9E7-4C63ACFC40D5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2A953FB-1E56-4A73-A636-82A9EDDDF8D4}">
      <dgm:prSet/>
      <dgm:spPr/>
      <dgm:t>
        <a:bodyPr/>
        <a:lstStyle/>
        <a:p>
          <a:r>
            <a:rPr lang="en-US" i="0" dirty="0" err="1"/>
            <a:t>Redução</a:t>
          </a:r>
          <a:r>
            <a:rPr lang="en-US" i="0" dirty="0"/>
            <a:t> de </a:t>
          </a:r>
          <a:r>
            <a:rPr lang="en-US" i="0" dirty="0" err="1"/>
            <a:t>falhas</a:t>
          </a:r>
          <a:r>
            <a:rPr lang="en-US" i="0" dirty="0"/>
            <a:t> </a:t>
          </a:r>
          <a:r>
            <a:rPr lang="en-US" i="0" dirty="0" err="1"/>
            <a:t>humanas</a:t>
          </a:r>
          <a:endParaRPr lang="en-US" dirty="0"/>
        </a:p>
      </dgm:t>
    </dgm:pt>
    <dgm:pt modelId="{35108751-1685-43A2-8A11-5CDAFC6D81A1}" type="parTrans" cxnId="{04FD5FB0-D36B-4721-83AE-383E190BCF79}">
      <dgm:prSet/>
      <dgm:spPr/>
      <dgm:t>
        <a:bodyPr/>
        <a:lstStyle/>
        <a:p>
          <a:endParaRPr lang="en-US"/>
        </a:p>
      </dgm:t>
    </dgm:pt>
    <dgm:pt modelId="{A622E57C-435F-4D18-B9E6-0B9AB4064210}" type="sibTrans" cxnId="{04FD5FB0-D36B-4721-83AE-383E190BCF79}">
      <dgm:prSet/>
      <dgm:spPr/>
      <dgm:t>
        <a:bodyPr/>
        <a:lstStyle/>
        <a:p>
          <a:endParaRPr lang="en-US"/>
        </a:p>
      </dgm:t>
    </dgm:pt>
    <dgm:pt modelId="{E5455E02-A481-4E02-84B5-8D1AE559536F}">
      <dgm:prSet/>
      <dgm:spPr/>
      <dgm:t>
        <a:bodyPr/>
        <a:lstStyle/>
        <a:p>
          <a:r>
            <a:rPr lang="en-US" i="0" dirty="0"/>
            <a:t>Maior </a:t>
          </a:r>
          <a:r>
            <a:rPr lang="en-US" i="0" dirty="0" err="1"/>
            <a:t>eficiência</a:t>
          </a:r>
          <a:r>
            <a:rPr lang="en-US" i="0" dirty="0"/>
            <a:t> e </a:t>
          </a:r>
          <a:r>
            <a:rPr lang="en-US" i="0" dirty="0" err="1"/>
            <a:t>rapidez</a:t>
          </a:r>
          <a:endParaRPr lang="en-US" dirty="0"/>
        </a:p>
      </dgm:t>
    </dgm:pt>
    <dgm:pt modelId="{D2B58C3C-7085-402D-BBF8-368EEBEC9FA6}" type="parTrans" cxnId="{8A39FAF7-5328-4470-8D54-652608FDB181}">
      <dgm:prSet/>
      <dgm:spPr/>
      <dgm:t>
        <a:bodyPr/>
        <a:lstStyle/>
        <a:p>
          <a:endParaRPr lang="en-US"/>
        </a:p>
      </dgm:t>
    </dgm:pt>
    <dgm:pt modelId="{CBB61761-C841-4F8E-9188-C7249DA26BC6}" type="sibTrans" cxnId="{8A39FAF7-5328-4470-8D54-652608FDB181}">
      <dgm:prSet/>
      <dgm:spPr/>
      <dgm:t>
        <a:bodyPr/>
        <a:lstStyle/>
        <a:p>
          <a:endParaRPr lang="en-US"/>
        </a:p>
      </dgm:t>
    </dgm:pt>
    <dgm:pt modelId="{763B74EE-7C9B-4954-9D23-2AD9DC8A19F5}">
      <dgm:prSet/>
      <dgm:spPr/>
      <dgm:t>
        <a:bodyPr/>
        <a:lstStyle/>
        <a:p>
          <a:r>
            <a:rPr lang="en-US" i="0" dirty="0" err="1"/>
            <a:t>Melhoria</a:t>
          </a:r>
          <a:r>
            <a:rPr lang="en-US" i="0" dirty="0"/>
            <a:t> </a:t>
          </a:r>
          <a:r>
            <a:rPr lang="en-US" i="0" dirty="0" err="1"/>
            <a:t>na</a:t>
          </a:r>
          <a:r>
            <a:rPr lang="en-US" i="0" dirty="0"/>
            <a:t> </a:t>
          </a:r>
          <a:r>
            <a:rPr lang="en-US" i="0" dirty="0" err="1"/>
            <a:t>colaboração</a:t>
          </a:r>
          <a:r>
            <a:rPr lang="en-US" i="0" dirty="0"/>
            <a:t> das equipes</a:t>
          </a:r>
          <a:endParaRPr lang="en-US" dirty="0"/>
        </a:p>
      </dgm:t>
    </dgm:pt>
    <dgm:pt modelId="{AD199933-6C46-46A4-B895-3E935F10F163}" type="parTrans" cxnId="{52650753-0D54-4811-9929-5704A083AAC8}">
      <dgm:prSet/>
      <dgm:spPr/>
      <dgm:t>
        <a:bodyPr/>
        <a:lstStyle/>
        <a:p>
          <a:endParaRPr lang="en-US"/>
        </a:p>
      </dgm:t>
    </dgm:pt>
    <dgm:pt modelId="{BC4854AF-B1BA-4FCA-A1C1-830934F89B8F}" type="sibTrans" cxnId="{52650753-0D54-4811-9929-5704A083AAC8}">
      <dgm:prSet/>
      <dgm:spPr/>
      <dgm:t>
        <a:bodyPr/>
        <a:lstStyle/>
        <a:p>
          <a:endParaRPr lang="en-US"/>
        </a:p>
      </dgm:t>
    </dgm:pt>
    <dgm:pt modelId="{53A8180A-2C85-4980-84F3-70482D10EBD8}">
      <dgm:prSet/>
      <dgm:spPr/>
      <dgm:t>
        <a:bodyPr/>
        <a:lstStyle/>
        <a:p>
          <a:r>
            <a:rPr lang="en-US" i="0" dirty="0"/>
            <a:t>Maior </a:t>
          </a:r>
          <a:r>
            <a:rPr lang="en-US" i="0" dirty="0" err="1"/>
            <a:t>previsibilidade</a:t>
          </a:r>
          <a:r>
            <a:rPr lang="en-US" i="0" dirty="0"/>
            <a:t> e </a:t>
          </a:r>
          <a:r>
            <a:rPr lang="en-US" i="0" dirty="0" err="1"/>
            <a:t>confiabilidade</a:t>
          </a:r>
          <a:endParaRPr lang="en-US" dirty="0"/>
        </a:p>
      </dgm:t>
    </dgm:pt>
    <dgm:pt modelId="{42A78C61-DD10-4DBF-9398-2CE2511E67CB}" type="parTrans" cxnId="{FAA09E22-F6B5-4B69-8D02-6F92598D7016}">
      <dgm:prSet/>
      <dgm:spPr/>
      <dgm:t>
        <a:bodyPr/>
        <a:lstStyle/>
        <a:p>
          <a:endParaRPr lang="en-US"/>
        </a:p>
      </dgm:t>
    </dgm:pt>
    <dgm:pt modelId="{9E89C923-8292-498B-8DDF-D94F127F8E81}" type="sibTrans" cxnId="{FAA09E22-F6B5-4B69-8D02-6F92598D7016}">
      <dgm:prSet/>
      <dgm:spPr/>
      <dgm:t>
        <a:bodyPr/>
        <a:lstStyle/>
        <a:p>
          <a:endParaRPr lang="en-US"/>
        </a:p>
      </dgm:t>
    </dgm:pt>
    <dgm:pt modelId="{6FAD445D-DBF2-4176-BB06-6E2E832A1F4B}">
      <dgm:prSet/>
      <dgm:spPr/>
      <dgm:t>
        <a:bodyPr/>
        <a:lstStyle/>
        <a:p>
          <a:r>
            <a:rPr lang="en-US" i="0"/>
            <a:t>Rastreamento de Responsabilidades</a:t>
          </a:r>
          <a:endParaRPr lang="en-US"/>
        </a:p>
      </dgm:t>
    </dgm:pt>
    <dgm:pt modelId="{93A19C05-C828-47E3-849A-35880FD24528}" type="parTrans" cxnId="{8C0D039D-5212-4729-9A4D-00EFAD73F954}">
      <dgm:prSet/>
      <dgm:spPr/>
      <dgm:t>
        <a:bodyPr/>
        <a:lstStyle/>
        <a:p>
          <a:endParaRPr lang="en-US"/>
        </a:p>
      </dgm:t>
    </dgm:pt>
    <dgm:pt modelId="{F92AF698-4F60-4876-975A-35850598D842}" type="sibTrans" cxnId="{8C0D039D-5212-4729-9A4D-00EFAD73F954}">
      <dgm:prSet/>
      <dgm:spPr/>
      <dgm:t>
        <a:bodyPr/>
        <a:lstStyle/>
        <a:p>
          <a:endParaRPr lang="en-US"/>
        </a:p>
      </dgm:t>
    </dgm:pt>
    <dgm:pt modelId="{FF516BF3-019F-4E62-910D-EC058CB7BFCD}">
      <dgm:prSet/>
      <dgm:spPr/>
      <dgm:t>
        <a:bodyPr/>
        <a:lstStyle/>
        <a:p>
          <a:r>
            <a:rPr lang="en-US" i="0" dirty="0"/>
            <a:t>Maior </a:t>
          </a:r>
          <a:r>
            <a:rPr lang="en-US" i="0" dirty="0" err="1"/>
            <a:t>controle</a:t>
          </a:r>
          <a:r>
            <a:rPr lang="en-US" i="0" dirty="0"/>
            <a:t> e </a:t>
          </a:r>
          <a:r>
            <a:rPr lang="en-US" i="0" dirty="0" err="1"/>
            <a:t>rastreabilidade</a:t>
          </a:r>
          <a:endParaRPr lang="en-US" dirty="0"/>
        </a:p>
      </dgm:t>
    </dgm:pt>
    <dgm:pt modelId="{78741DA7-CA71-40A6-9A0D-8E1A615833B8}" type="parTrans" cxnId="{0D0DF338-AD36-4365-BEFD-64D25DB09D26}">
      <dgm:prSet/>
      <dgm:spPr/>
      <dgm:t>
        <a:bodyPr/>
        <a:lstStyle/>
        <a:p>
          <a:endParaRPr lang="en-US"/>
        </a:p>
      </dgm:t>
    </dgm:pt>
    <dgm:pt modelId="{196F7110-CAF5-47BC-ABA7-088A7EDE4A0D}" type="sibTrans" cxnId="{0D0DF338-AD36-4365-BEFD-64D25DB09D26}">
      <dgm:prSet/>
      <dgm:spPr/>
      <dgm:t>
        <a:bodyPr/>
        <a:lstStyle/>
        <a:p>
          <a:endParaRPr lang="en-US"/>
        </a:p>
      </dgm:t>
    </dgm:pt>
    <dgm:pt modelId="{B6FD2E7C-320F-4562-97CF-168F7A6F7D54}" type="pres">
      <dgm:prSet presAssocID="{769B494B-9971-44F3-B9E7-4C63ACFC40D5}" presName="vert0" presStyleCnt="0">
        <dgm:presLayoutVars>
          <dgm:dir/>
          <dgm:animOne val="branch"/>
          <dgm:animLvl val="lvl"/>
        </dgm:presLayoutVars>
      </dgm:prSet>
      <dgm:spPr/>
    </dgm:pt>
    <dgm:pt modelId="{4975F67F-2B6A-4D45-B818-E6B0BB0448F4}" type="pres">
      <dgm:prSet presAssocID="{32A953FB-1E56-4A73-A636-82A9EDDDF8D4}" presName="thickLine" presStyleLbl="alignNode1" presStyleIdx="0" presStyleCnt="6"/>
      <dgm:spPr/>
    </dgm:pt>
    <dgm:pt modelId="{D3B13910-E721-480C-A2C5-4DAA654B27CE}" type="pres">
      <dgm:prSet presAssocID="{32A953FB-1E56-4A73-A636-82A9EDDDF8D4}" presName="horz1" presStyleCnt="0"/>
      <dgm:spPr/>
    </dgm:pt>
    <dgm:pt modelId="{78EF3C27-FD11-4C16-AAF8-639DB10526B6}" type="pres">
      <dgm:prSet presAssocID="{32A953FB-1E56-4A73-A636-82A9EDDDF8D4}" presName="tx1" presStyleLbl="revTx" presStyleIdx="0" presStyleCnt="6"/>
      <dgm:spPr/>
    </dgm:pt>
    <dgm:pt modelId="{FF504784-4EAA-4F83-ADD9-0BE69AED4AA7}" type="pres">
      <dgm:prSet presAssocID="{32A953FB-1E56-4A73-A636-82A9EDDDF8D4}" presName="vert1" presStyleCnt="0"/>
      <dgm:spPr/>
    </dgm:pt>
    <dgm:pt modelId="{C1A40635-921D-475C-A65A-D94AE027A3D1}" type="pres">
      <dgm:prSet presAssocID="{E5455E02-A481-4E02-84B5-8D1AE559536F}" presName="thickLine" presStyleLbl="alignNode1" presStyleIdx="1" presStyleCnt="6"/>
      <dgm:spPr/>
    </dgm:pt>
    <dgm:pt modelId="{FC62B2B8-FFDC-4E50-9F84-040CB16F126D}" type="pres">
      <dgm:prSet presAssocID="{E5455E02-A481-4E02-84B5-8D1AE559536F}" presName="horz1" presStyleCnt="0"/>
      <dgm:spPr/>
    </dgm:pt>
    <dgm:pt modelId="{E1274BE1-30E7-4194-B918-EB1DE590A610}" type="pres">
      <dgm:prSet presAssocID="{E5455E02-A481-4E02-84B5-8D1AE559536F}" presName="tx1" presStyleLbl="revTx" presStyleIdx="1" presStyleCnt="6"/>
      <dgm:spPr/>
    </dgm:pt>
    <dgm:pt modelId="{4CD36412-026B-4160-BE9E-4C0769A3781F}" type="pres">
      <dgm:prSet presAssocID="{E5455E02-A481-4E02-84B5-8D1AE559536F}" presName="vert1" presStyleCnt="0"/>
      <dgm:spPr/>
    </dgm:pt>
    <dgm:pt modelId="{3696C9EE-BF26-4DCF-97C6-48B8D9BDB480}" type="pres">
      <dgm:prSet presAssocID="{763B74EE-7C9B-4954-9D23-2AD9DC8A19F5}" presName="thickLine" presStyleLbl="alignNode1" presStyleIdx="2" presStyleCnt="6"/>
      <dgm:spPr/>
    </dgm:pt>
    <dgm:pt modelId="{285FBBDF-265B-447A-A4A6-5E85AC799654}" type="pres">
      <dgm:prSet presAssocID="{763B74EE-7C9B-4954-9D23-2AD9DC8A19F5}" presName="horz1" presStyleCnt="0"/>
      <dgm:spPr/>
    </dgm:pt>
    <dgm:pt modelId="{53D3975F-C6F5-43C3-8E29-FD00170410C9}" type="pres">
      <dgm:prSet presAssocID="{763B74EE-7C9B-4954-9D23-2AD9DC8A19F5}" presName="tx1" presStyleLbl="revTx" presStyleIdx="2" presStyleCnt="6"/>
      <dgm:spPr/>
    </dgm:pt>
    <dgm:pt modelId="{057C21C5-4520-4921-84CC-1123A2658179}" type="pres">
      <dgm:prSet presAssocID="{763B74EE-7C9B-4954-9D23-2AD9DC8A19F5}" presName="vert1" presStyleCnt="0"/>
      <dgm:spPr/>
    </dgm:pt>
    <dgm:pt modelId="{65AF7A5A-063E-413B-BD58-58EBB86D8BCE}" type="pres">
      <dgm:prSet presAssocID="{53A8180A-2C85-4980-84F3-70482D10EBD8}" presName="thickLine" presStyleLbl="alignNode1" presStyleIdx="3" presStyleCnt="6"/>
      <dgm:spPr/>
    </dgm:pt>
    <dgm:pt modelId="{55516798-DD76-4166-B36B-1303F20543B9}" type="pres">
      <dgm:prSet presAssocID="{53A8180A-2C85-4980-84F3-70482D10EBD8}" presName="horz1" presStyleCnt="0"/>
      <dgm:spPr/>
    </dgm:pt>
    <dgm:pt modelId="{29AD6E60-F12E-45D2-A588-7501FAB8484F}" type="pres">
      <dgm:prSet presAssocID="{53A8180A-2C85-4980-84F3-70482D10EBD8}" presName="tx1" presStyleLbl="revTx" presStyleIdx="3" presStyleCnt="6"/>
      <dgm:spPr/>
    </dgm:pt>
    <dgm:pt modelId="{ED98BEA6-1E09-4AC0-B42A-7AC39398FB1E}" type="pres">
      <dgm:prSet presAssocID="{53A8180A-2C85-4980-84F3-70482D10EBD8}" presName="vert1" presStyleCnt="0"/>
      <dgm:spPr/>
    </dgm:pt>
    <dgm:pt modelId="{F2521697-7619-4F71-90DE-FD407924BA2D}" type="pres">
      <dgm:prSet presAssocID="{6FAD445D-DBF2-4176-BB06-6E2E832A1F4B}" presName="thickLine" presStyleLbl="alignNode1" presStyleIdx="4" presStyleCnt="6"/>
      <dgm:spPr/>
    </dgm:pt>
    <dgm:pt modelId="{8D81E333-783C-48D7-B04A-CBEC64BF4ED3}" type="pres">
      <dgm:prSet presAssocID="{6FAD445D-DBF2-4176-BB06-6E2E832A1F4B}" presName="horz1" presStyleCnt="0"/>
      <dgm:spPr/>
    </dgm:pt>
    <dgm:pt modelId="{F56E4D20-3F5D-4C5A-8E41-E765897B8487}" type="pres">
      <dgm:prSet presAssocID="{6FAD445D-DBF2-4176-BB06-6E2E832A1F4B}" presName="tx1" presStyleLbl="revTx" presStyleIdx="4" presStyleCnt="6"/>
      <dgm:spPr/>
    </dgm:pt>
    <dgm:pt modelId="{2FA9B2FF-211A-451A-8F84-471A1A459BED}" type="pres">
      <dgm:prSet presAssocID="{6FAD445D-DBF2-4176-BB06-6E2E832A1F4B}" presName="vert1" presStyleCnt="0"/>
      <dgm:spPr/>
    </dgm:pt>
    <dgm:pt modelId="{5DE7FD1D-1BE6-4EE7-8DC1-C21D722D0913}" type="pres">
      <dgm:prSet presAssocID="{FF516BF3-019F-4E62-910D-EC058CB7BFCD}" presName="thickLine" presStyleLbl="alignNode1" presStyleIdx="5" presStyleCnt="6"/>
      <dgm:spPr/>
    </dgm:pt>
    <dgm:pt modelId="{59D36C63-A46E-4C14-B862-858B25F8A947}" type="pres">
      <dgm:prSet presAssocID="{FF516BF3-019F-4E62-910D-EC058CB7BFCD}" presName="horz1" presStyleCnt="0"/>
      <dgm:spPr/>
    </dgm:pt>
    <dgm:pt modelId="{FA1C5E0A-1718-4A85-93BD-46577E8B5AED}" type="pres">
      <dgm:prSet presAssocID="{FF516BF3-019F-4E62-910D-EC058CB7BFCD}" presName="tx1" presStyleLbl="revTx" presStyleIdx="5" presStyleCnt="6"/>
      <dgm:spPr/>
    </dgm:pt>
    <dgm:pt modelId="{8FD09244-2205-4D02-A470-EC911AC5C45B}" type="pres">
      <dgm:prSet presAssocID="{FF516BF3-019F-4E62-910D-EC058CB7BFCD}" presName="vert1" presStyleCnt="0"/>
      <dgm:spPr/>
    </dgm:pt>
  </dgm:ptLst>
  <dgm:cxnLst>
    <dgm:cxn modelId="{FAA09E22-F6B5-4B69-8D02-6F92598D7016}" srcId="{769B494B-9971-44F3-B9E7-4C63ACFC40D5}" destId="{53A8180A-2C85-4980-84F3-70482D10EBD8}" srcOrd="3" destOrd="0" parTransId="{42A78C61-DD10-4DBF-9398-2CE2511E67CB}" sibTransId="{9E89C923-8292-498B-8DDF-D94F127F8E81}"/>
    <dgm:cxn modelId="{094DFA2B-8D99-452E-A939-EFFC7C4281B8}" type="presOf" srcId="{769B494B-9971-44F3-B9E7-4C63ACFC40D5}" destId="{B6FD2E7C-320F-4562-97CF-168F7A6F7D54}" srcOrd="0" destOrd="0" presId="urn:microsoft.com/office/officeart/2008/layout/LinedList"/>
    <dgm:cxn modelId="{82D4012E-1964-4DF9-86AA-6703F15D7DE3}" type="presOf" srcId="{6FAD445D-DBF2-4176-BB06-6E2E832A1F4B}" destId="{F56E4D20-3F5D-4C5A-8E41-E765897B8487}" srcOrd="0" destOrd="0" presId="urn:microsoft.com/office/officeart/2008/layout/LinedList"/>
    <dgm:cxn modelId="{0D0DF338-AD36-4365-BEFD-64D25DB09D26}" srcId="{769B494B-9971-44F3-B9E7-4C63ACFC40D5}" destId="{FF516BF3-019F-4E62-910D-EC058CB7BFCD}" srcOrd="5" destOrd="0" parTransId="{78741DA7-CA71-40A6-9A0D-8E1A615833B8}" sibTransId="{196F7110-CAF5-47BC-ABA7-088A7EDE4A0D}"/>
    <dgm:cxn modelId="{AA677A68-F812-43FA-BF40-C225D22202E0}" type="presOf" srcId="{E5455E02-A481-4E02-84B5-8D1AE559536F}" destId="{E1274BE1-30E7-4194-B918-EB1DE590A610}" srcOrd="0" destOrd="0" presId="urn:microsoft.com/office/officeart/2008/layout/LinedList"/>
    <dgm:cxn modelId="{52650753-0D54-4811-9929-5704A083AAC8}" srcId="{769B494B-9971-44F3-B9E7-4C63ACFC40D5}" destId="{763B74EE-7C9B-4954-9D23-2AD9DC8A19F5}" srcOrd="2" destOrd="0" parTransId="{AD199933-6C46-46A4-B895-3E935F10F163}" sibTransId="{BC4854AF-B1BA-4FCA-A1C1-830934F89B8F}"/>
    <dgm:cxn modelId="{F8314F8E-501A-424E-BA06-DF36B2156989}" type="presOf" srcId="{32A953FB-1E56-4A73-A636-82A9EDDDF8D4}" destId="{78EF3C27-FD11-4C16-AAF8-639DB10526B6}" srcOrd="0" destOrd="0" presId="urn:microsoft.com/office/officeart/2008/layout/LinedList"/>
    <dgm:cxn modelId="{8C0D039D-5212-4729-9A4D-00EFAD73F954}" srcId="{769B494B-9971-44F3-B9E7-4C63ACFC40D5}" destId="{6FAD445D-DBF2-4176-BB06-6E2E832A1F4B}" srcOrd="4" destOrd="0" parTransId="{93A19C05-C828-47E3-849A-35880FD24528}" sibTransId="{F92AF698-4F60-4876-975A-35850598D842}"/>
    <dgm:cxn modelId="{04FD5FB0-D36B-4721-83AE-383E190BCF79}" srcId="{769B494B-9971-44F3-B9E7-4C63ACFC40D5}" destId="{32A953FB-1E56-4A73-A636-82A9EDDDF8D4}" srcOrd="0" destOrd="0" parTransId="{35108751-1685-43A2-8A11-5CDAFC6D81A1}" sibTransId="{A622E57C-435F-4D18-B9E6-0B9AB4064210}"/>
    <dgm:cxn modelId="{56163DB7-47C3-45A0-978F-A9C10935829D}" type="presOf" srcId="{FF516BF3-019F-4E62-910D-EC058CB7BFCD}" destId="{FA1C5E0A-1718-4A85-93BD-46577E8B5AED}" srcOrd="0" destOrd="0" presId="urn:microsoft.com/office/officeart/2008/layout/LinedList"/>
    <dgm:cxn modelId="{0C2CC1BD-8B66-4E93-BD8B-97490ECC29F3}" type="presOf" srcId="{763B74EE-7C9B-4954-9D23-2AD9DC8A19F5}" destId="{53D3975F-C6F5-43C3-8E29-FD00170410C9}" srcOrd="0" destOrd="0" presId="urn:microsoft.com/office/officeart/2008/layout/LinedList"/>
    <dgm:cxn modelId="{2045EDF6-4E43-4FF9-8037-EDBFE834F5D9}" type="presOf" srcId="{53A8180A-2C85-4980-84F3-70482D10EBD8}" destId="{29AD6E60-F12E-45D2-A588-7501FAB8484F}" srcOrd="0" destOrd="0" presId="urn:microsoft.com/office/officeart/2008/layout/LinedList"/>
    <dgm:cxn modelId="{8A39FAF7-5328-4470-8D54-652608FDB181}" srcId="{769B494B-9971-44F3-B9E7-4C63ACFC40D5}" destId="{E5455E02-A481-4E02-84B5-8D1AE559536F}" srcOrd="1" destOrd="0" parTransId="{D2B58C3C-7085-402D-BBF8-368EEBEC9FA6}" sibTransId="{CBB61761-C841-4F8E-9188-C7249DA26BC6}"/>
    <dgm:cxn modelId="{521CC93D-0CD2-4C42-8068-C33284A09BB7}" type="presParOf" srcId="{B6FD2E7C-320F-4562-97CF-168F7A6F7D54}" destId="{4975F67F-2B6A-4D45-B818-E6B0BB0448F4}" srcOrd="0" destOrd="0" presId="urn:microsoft.com/office/officeart/2008/layout/LinedList"/>
    <dgm:cxn modelId="{C578DF32-FF72-42CC-B75F-997741077CD6}" type="presParOf" srcId="{B6FD2E7C-320F-4562-97CF-168F7A6F7D54}" destId="{D3B13910-E721-480C-A2C5-4DAA654B27CE}" srcOrd="1" destOrd="0" presId="urn:microsoft.com/office/officeart/2008/layout/LinedList"/>
    <dgm:cxn modelId="{7C82FDAF-9BC6-46E7-BB8E-A9A84D08F4E7}" type="presParOf" srcId="{D3B13910-E721-480C-A2C5-4DAA654B27CE}" destId="{78EF3C27-FD11-4C16-AAF8-639DB10526B6}" srcOrd="0" destOrd="0" presId="urn:microsoft.com/office/officeart/2008/layout/LinedList"/>
    <dgm:cxn modelId="{E7502788-43B0-4885-B5A3-031F1AB8E248}" type="presParOf" srcId="{D3B13910-E721-480C-A2C5-4DAA654B27CE}" destId="{FF504784-4EAA-4F83-ADD9-0BE69AED4AA7}" srcOrd="1" destOrd="0" presId="urn:microsoft.com/office/officeart/2008/layout/LinedList"/>
    <dgm:cxn modelId="{C6B4B700-2F50-4614-957D-2561908D216B}" type="presParOf" srcId="{B6FD2E7C-320F-4562-97CF-168F7A6F7D54}" destId="{C1A40635-921D-475C-A65A-D94AE027A3D1}" srcOrd="2" destOrd="0" presId="urn:microsoft.com/office/officeart/2008/layout/LinedList"/>
    <dgm:cxn modelId="{26C34904-ACE1-4D08-BA44-BD77656374F2}" type="presParOf" srcId="{B6FD2E7C-320F-4562-97CF-168F7A6F7D54}" destId="{FC62B2B8-FFDC-4E50-9F84-040CB16F126D}" srcOrd="3" destOrd="0" presId="urn:microsoft.com/office/officeart/2008/layout/LinedList"/>
    <dgm:cxn modelId="{BFA9329E-A945-4FF9-B127-46093788F64B}" type="presParOf" srcId="{FC62B2B8-FFDC-4E50-9F84-040CB16F126D}" destId="{E1274BE1-30E7-4194-B918-EB1DE590A610}" srcOrd="0" destOrd="0" presId="urn:microsoft.com/office/officeart/2008/layout/LinedList"/>
    <dgm:cxn modelId="{AFC873A5-4534-442A-883C-C2A09D7BB577}" type="presParOf" srcId="{FC62B2B8-FFDC-4E50-9F84-040CB16F126D}" destId="{4CD36412-026B-4160-BE9E-4C0769A3781F}" srcOrd="1" destOrd="0" presId="urn:microsoft.com/office/officeart/2008/layout/LinedList"/>
    <dgm:cxn modelId="{F9852479-438B-45D1-BF73-E4652C7C1372}" type="presParOf" srcId="{B6FD2E7C-320F-4562-97CF-168F7A6F7D54}" destId="{3696C9EE-BF26-4DCF-97C6-48B8D9BDB480}" srcOrd="4" destOrd="0" presId="urn:microsoft.com/office/officeart/2008/layout/LinedList"/>
    <dgm:cxn modelId="{563E6B92-8652-487C-8739-C00A1FD54C50}" type="presParOf" srcId="{B6FD2E7C-320F-4562-97CF-168F7A6F7D54}" destId="{285FBBDF-265B-447A-A4A6-5E85AC799654}" srcOrd="5" destOrd="0" presId="urn:microsoft.com/office/officeart/2008/layout/LinedList"/>
    <dgm:cxn modelId="{066A2F23-417D-44A4-A8AD-8313A8D663DF}" type="presParOf" srcId="{285FBBDF-265B-447A-A4A6-5E85AC799654}" destId="{53D3975F-C6F5-43C3-8E29-FD00170410C9}" srcOrd="0" destOrd="0" presId="urn:microsoft.com/office/officeart/2008/layout/LinedList"/>
    <dgm:cxn modelId="{2F1DFEA3-230F-46F4-8905-69BE09E7813C}" type="presParOf" srcId="{285FBBDF-265B-447A-A4A6-5E85AC799654}" destId="{057C21C5-4520-4921-84CC-1123A2658179}" srcOrd="1" destOrd="0" presId="urn:microsoft.com/office/officeart/2008/layout/LinedList"/>
    <dgm:cxn modelId="{1C86A001-D59E-4638-93B6-8D40D4861CD0}" type="presParOf" srcId="{B6FD2E7C-320F-4562-97CF-168F7A6F7D54}" destId="{65AF7A5A-063E-413B-BD58-58EBB86D8BCE}" srcOrd="6" destOrd="0" presId="urn:microsoft.com/office/officeart/2008/layout/LinedList"/>
    <dgm:cxn modelId="{D94BA180-2F7D-401A-8ED6-95D03192E090}" type="presParOf" srcId="{B6FD2E7C-320F-4562-97CF-168F7A6F7D54}" destId="{55516798-DD76-4166-B36B-1303F20543B9}" srcOrd="7" destOrd="0" presId="urn:microsoft.com/office/officeart/2008/layout/LinedList"/>
    <dgm:cxn modelId="{898A62BB-BA09-475F-834B-5D780CC28B4A}" type="presParOf" srcId="{55516798-DD76-4166-B36B-1303F20543B9}" destId="{29AD6E60-F12E-45D2-A588-7501FAB8484F}" srcOrd="0" destOrd="0" presId="urn:microsoft.com/office/officeart/2008/layout/LinedList"/>
    <dgm:cxn modelId="{716E09CB-90FA-4396-A98B-4176B1384F66}" type="presParOf" srcId="{55516798-DD76-4166-B36B-1303F20543B9}" destId="{ED98BEA6-1E09-4AC0-B42A-7AC39398FB1E}" srcOrd="1" destOrd="0" presId="urn:microsoft.com/office/officeart/2008/layout/LinedList"/>
    <dgm:cxn modelId="{2BC17789-BC35-405B-81BB-B49AC605B6FF}" type="presParOf" srcId="{B6FD2E7C-320F-4562-97CF-168F7A6F7D54}" destId="{F2521697-7619-4F71-90DE-FD407924BA2D}" srcOrd="8" destOrd="0" presId="urn:microsoft.com/office/officeart/2008/layout/LinedList"/>
    <dgm:cxn modelId="{AD287B42-6F27-4E10-AE3E-95B9F58E0717}" type="presParOf" srcId="{B6FD2E7C-320F-4562-97CF-168F7A6F7D54}" destId="{8D81E333-783C-48D7-B04A-CBEC64BF4ED3}" srcOrd="9" destOrd="0" presId="urn:microsoft.com/office/officeart/2008/layout/LinedList"/>
    <dgm:cxn modelId="{6BA7D1E0-F566-404A-9D61-7FCEC08496D2}" type="presParOf" srcId="{8D81E333-783C-48D7-B04A-CBEC64BF4ED3}" destId="{F56E4D20-3F5D-4C5A-8E41-E765897B8487}" srcOrd="0" destOrd="0" presId="urn:microsoft.com/office/officeart/2008/layout/LinedList"/>
    <dgm:cxn modelId="{452AB58A-7BE2-48C7-B6CF-E09E5A71589C}" type="presParOf" srcId="{8D81E333-783C-48D7-B04A-CBEC64BF4ED3}" destId="{2FA9B2FF-211A-451A-8F84-471A1A459BED}" srcOrd="1" destOrd="0" presId="urn:microsoft.com/office/officeart/2008/layout/LinedList"/>
    <dgm:cxn modelId="{6FD2699D-B3F0-4AC9-A5AD-DBE30495AF13}" type="presParOf" srcId="{B6FD2E7C-320F-4562-97CF-168F7A6F7D54}" destId="{5DE7FD1D-1BE6-4EE7-8DC1-C21D722D0913}" srcOrd="10" destOrd="0" presId="urn:microsoft.com/office/officeart/2008/layout/LinedList"/>
    <dgm:cxn modelId="{A2DEB23E-CB7B-4DED-8293-61A0CA346AAB}" type="presParOf" srcId="{B6FD2E7C-320F-4562-97CF-168F7A6F7D54}" destId="{59D36C63-A46E-4C14-B862-858B25F8A947}" srcOrd="11" destOrd="0" presId="urn:microsoft.com/office/officeart/2008/layout/LinedList"/>
    <dgm:cxn modelId="{B73007FF-B45F-4701-A936-BFB3AA6C003B}" type="presParOf" srcId="{59D36C63-A46E-4C14-B862-858B25F8A947}" destId="{FA1C5E0A-1718-4A85-93BD-46577E8B5AED}" srcOrd="0" destOrd="0" presId="urn:microsoft.com/office/officeart/2008/layout/LinedList"/>
    <dgm:cxn modelId="{04663AB1-E5CC-473B-8A4A-1073A23816C4}" type="presParOf" srcId="{59D36C63-A46E-4C14-B862-858B25F8A947}" destId="{8FD09244-2205-4D02-A470-EC911AC5C4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9B494B-9971-44F3-B9E7-4C63ACFC40D5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2A953FB-1E56-4A73-A636-82A9EDDDF8D4}">
      <dgm:prSet/>
      <dgm:spPr/>
      <dgm:t>
        <a:bodyPr/>
        <a:lstStyle/>
        <a:p>
          <a:r>
            <a:rPr lang="en-US" i="0"/>
            <a:t>Histórico de Mudanças</a:t>
          </a:r>
          <a:endParaRPr lang="en-US"/>
        </a:p>
      </dgm:t>
    </dgm:pt>
    <dgm:pt modelId="{35108751-1685-43A2-8A11-5CDAFC6D81A1}" type="parTrans" cxnId="{04FD5FB0-D36B-4721-83AE-383E190BCF79}">
      <dgm:prSet/>
      <dgm:spPr/>
      <dgm:t>
        <a:bodyPr/>
        <a:lstStyle/>
        <a:p>
          <a:endParaRPr lang="en-US"/>
        </a:p>
      </dgm:t>
    </dgm:pt>
    <dgm:pt modelId="{A622E57C-435F-4D18-B9E6-0B9AB4064210}" type="sibTrans" cxnId="{04FD5FB0-D36B-4721-83AE-383E190BCF79}">
      <dgm:prSet/>
      <dgm:spPr/>
      <dgm:t>
        <a:bodyPr/>
        <a:lstStyle/>
        <a:p>
          <a:endParaRPr lang="en-US"/>
        </a:p>
      </dgm:t>
    </dgm:pt>
    <dgm:pt modelId="{E5455E02-A481-4E02-84B5-8D1AE559536F}">
      <dgm:prSet/>
      <dgm:spPr/>
      <dgm:t>
        <a:bodyPr/>
        <a:lstStyle/>
        <a:p>
          <a:r>
            <a:rPr lang="en-US" i="0"/>
            <a:t>Gerenciamento de Conflitos</a:t>
          </a:r>
          <a:endParaRPr lang="en-US"/>
        </a:p>
      </dgm:t>
    </dgm:pt>
    <dgm:pt modelId="{D2B58C3C-7085-402D-BBF8-368EEBEC9FA6}" type="parTrans" cxnId="{8A39FAF7-5328-4470-8D54-652608FDB181}">
      <dgm:prSet/>
      <dgm:spPr/>
      <dgm:t>
        <a:bodyPr/>
        <a:lstStyle/>
        <a:p>
          <a:endParaRPr lang="en-US"/>
        </a:p>
      </dgm:t>
    </dgm:pt>
    <dgm:pt modelId="{CBB61761-C841-4F8E-9188-C7249DA26BC6}" type="sibTrans" cxnId="{8A39FAF7-5328-4470-8D54-652608FDB181}">
      <dgm:prSet/>
      <dgm:spPr/>
      <dgm:t>
        <a:bodyPr/>
        <a:lstStyle/>
        <a:p>
          <a:endParaRPr lang="en-US"/>
        </a:p>
      </dgm:t>
    </dgm:pt>
    <dgm:pt modelId="{763B74EE-7C9B-4954-9D23-2AD9DC8A19F5}">
      <dgm:prSet/>
      <dgm:spPr/>
      <dgm:t>
        <a:bodyPr/>
        <a:lstStyle/>
        <a:p>
          <a:r>
            <a:rPr lang="en-US" i="0"/>
            <a:t>Ramificação e Mesclagem</a:t>
          </a:r>
          <a:endParaRPr lang="en-US"/>
        </a:p>
      </dgm:t>
    </dgm:pt>
    <dgm:pt modelId="{AD199933-6C46-46A4-B895-3E935F10F163}" type="parTrans" cxnId="{52650753-0D54-4811-9929-5704A083AAC8}">
      <dgm:prSet/>
      <dgm:spPr/>
      <dgm:t>
        <a:bodyPr/>
        <a:lstStyle/>
        <a:p>
          <a:endParaRPr lang="en-US"/>
        </a:p>
      </dgm:t>
    </dgm:pt>
    <dgm:pt modelId="{BC4854AF-B1BA-4FCA-A1C1-830934F89B8F}" type="sibTrans" cxnId="{52650753-0D54-4811-9929-5704A083AAC8}">
      <dgm:prSet/>
      <dgm:spPr/>
      <dgm:t>
        <a:bodyPr/>
        <a:lstStyle/>
        <a:p>
          <a:endParaRPr lang="en-US"/>
        </a:p>
      </dgm:t>
    </dgm:pt>
    <dgm:pt modelId="{53A8180A-2C85-4980-84F3-70482D10EBD8}">
      <dgm:prSet/>
      <dgm:spPr/>
      <dgm:t>
        <a:bodyPr/>
        <a:lstStyle/>
        <a:p>
          <a:r>
            <a:rPr lang="en-US" i="0"/>
            <a:t>Backup e Recuperação</a:t>
          </a:r>
          <a:endParaRPr lang="en-US"/>
        </a:p>
      </dgm:t>
    </dgm:pt>
    <dgm:pt modelId="{42A78C61-DD10-4DBF-9398-2CE2511E67CB}" type="parTrans" cxnId="{FAA09E22-F6B5-4B69-8D02-6F92598D7016}">
      <dgm:prSet/>
      <dgm:spPr/>
      <dgm:t>
        <a:bodyPr/>
        <a:lstStyle/>
        <a:p>
          <a:endParaRPr lang="en-US"/>
        </a:p>
      </dgm:t>
    </dgm:pt>
    <dgm:pt modelId="{9E89C923-8292-498B-8DDF-D94F127F8E81}" type="sibTrans" cxnId="{FAA09E22-F6B5-4B69-8D02-6F92598D7016}">
      <dgm:prSet/>
      <dgm:spPr/>
      <dgm:t>
        <a:bodyPr/>
        <a:lstStyle/>
        <a:p>
          <a:endParaRPr lang="en-US"/>
        </a:p>
      </dgm:t>
    </dgm:pt>
    <dgm:pt modelId="{6FAD445D-DBF2-4176-BB06-6E2E832A1F4B}">
      <dgm:prSet/>
      <dgm:spPr/>
      <dgm:t>
        <a:bodyPr/>
        <a:lstStyle/>
        <a:p>
          <a:r>
            <a:rPr lang="en-US" i="0"/>
            <a:t>Rastreamento de Responsabilidades</a:t>
          </a:r>
          <a:endParaRPr lang="en-US"/>
        </a:p>
      </dgm:t>
    </dgm:pt>
    <dgm:pt modelId="{93A19C05-C828-47E3-849A-35880FD24528}" type="parTrans" cxnId="{8C0D039D-5212-4729-9A4D-00EFAD73F954}">
      <dgm:prSet/>
      <dgm:spPr/>
      <dgm:t>
        <a:bodyPr/>
        <a:lstStyle/>
        <a:p>
          <a:endParaRPr lang="en-US"/>
        </a:p>
      </dgm:t>
    </dgm:pt>
    <dgm:pt modelId="{F92AF698-4F60-4876-975A-35850598D842}" type="sibTrans" cxnId="{8C0D039D-5212-4729-9A4D-00EFAD73F954}">
      <dgm:prSet/>
      <dgm:spPr/>
      <dgm:t>
        <a:bodyPr/>
        <a:lstStyle/>
        <a:p>
          <a:endParaRPr lang="en-US"/>
        </a:p>
      </dgm:t>
    </dgm:pt>
    <dgm:pt modelId="{FF516BF3-019F-4E62-910D-EC058CB7BFCD}">
      <dgm:prSet/>
      <dgm:spPr/>
      <dgm:t>
        <a:bodyPr/>
        <a:lstStyle/>
        <a:p>
          <a:r>
            <a:rPr lang="en-US" i="0" dirty="0" err="1"/>
            <a:t>Marcação</a:t>
          </a:r>
          <a:r>
            <a:rPr lang="en-US" i="0" dirty="0"/>
            <a:t> de </a:t>
          </a:r>
          <a:r>
            <a:rPr lang="en-US" i="0" dirty="0" err="1"/>
            <a:t>Versões</a:t>
          </a:r>
          <a:r>
            <a:rPr lang="en-US" i="0" dirty="0"/>
            <a:t> </a:t>
          </a:r>
          <a:r>
            <a:rPr lang="en-US" i="0" dirty="0" err="1"/>
            <a:t>Estáveis</a:t>
          </a:r>
          <a:endParaRPr lang="en-US" dirty="0"/>
        </a:p>
      </dgm:t>
    </dgm:pt>
    <dgm:pt modelId="{78741DA7-CA71-40A6-9A0D-8E1A615833B8}" type="parTrans" cxnId="{0D0DF338-AD36-4365-BEFD-64D25DB09D26}">
      <dgm:prSet/>
      <dgm:spPr/>
      <dgm:t>
        <a:bodyPr/>
        <a:lstStyle/>
        <a:p>
          <a:endParaRPr lang="en-US"/>
        </a:p>
      </dgm:t>
    </dgm:pt>
    <dgm:pt modelId="{196F7110-CAF5-47BC-ABA7-088A7EDE4A0D}" type="sibTrans" cxnId="{0D0DF338-AD36-4365-BEFD-64D25DB09D26}">
      <dgm:prSet/>
      <dgm:spPr/>
      <dgm:t>
        <a:bodyPr/>
        <a:lstStyle/>
        <a:p>
          <a:endParaRPr lang="en-US"/>
        </a:p>
      </dgm:t>
    </dgm:pt>
    <dgm:pt modelId="{B6FD2E7C-320F-4562-97CF-168F7A6F7D54}" type="pres">
      <dgm:prSet presAssocID="{769B494B-9971-44F3-B9E7-4C63ACFC40D5}" presName="vert0" presStyleCnt="0">
        <dgm:presLayoutVars>
          <dgm:dir/>
          <dgm:animOne val="branch"/>
          <dgm:animLvl val="lvl"/>
        </dgm:presLayoutVars>
      </dgm:prSet>
      <dgm:spPr/>
    </dgm:pt>
    <dgm:pt modelId="{4975F67F-2B6A-4D45-B818-E6B0BB0448F4}" type="pres">
      <dgm:prSet presAssocID="{32A953FB-1E56-4A73-A636-82A9EDDDF8D4}" presName="thickLine" presStyleLbl="alignNode1" presStyleIdx="0" presStyleCnt="6"/>
      <dgm:spPr/>
    </dgm:pt>
    <dgm:pt modelId="{D3B13910-E721-480C-A2C5-4DAA654B27CE}" type="pres">
      <dgm:prSet presAssocID="{32A953FB-1E56-4A73-A636-82A9EDDDF8D4}" presName="horz1" presStyleCnt="0"/>
      <dgm:spPr/>
    </dgm:pt>
    <dgm:pt modelId="{78EF3C27-FD11-4C16-AAF8-639DB10526B6}" type="pres">
      <dgm:prSet presAssocID="{32A953FB-1E56-4A73-A636-82A9EDDDF8D4}" presName="tx1" presStyleLbl="revTx" presStyleIdx="0" presStyleCnt="6"/>
      <dgm:spPr/>
    </dgm:pt>
    <dgm:pt modelId="{FF504784-4EAA-4F83-ADD9-0BE69AED4AA7}" type="pres">
      <dgm:prSet presAssocID="{32A953FB-1E56-4A73-A636-82A9EDDDF8D4}" presName="vert1" presStyleCnt="0"/>
      <dgm:spPr/>
    </dgm:pt>
    <dgm:pt modelId="{C1A40635-921D-475C-A65A-D94AE027A3D1}" type="pres">
      <dgm:prSet presAssocID="{E5455E02-A481-4E02-84B5-8D1AE559536F}" presName="thickLine" presStyleLbl="alignNode1" presStyleIdx="1" presStyleCnt="6"/>
      <dgm:spPr/>
    </dgm:pt>
    <dgm:pt modelId="{FC62B2B8-FFDC-4E50-9F84-040CB16F126D}" type="pres">
      <dgm:prSet presAssocID="{E5455E02-A481-4E02-84B5-8D1AE559536F}" presName="horz1" presStyleCnt="0"/>
      <dgm:spPr/>
    </dgm:pt>
    <dgm:pt modelId="{E1274BE1-30E7-4194-B918-EB1DE590A610}" type="pres">
      <dgm:prSet presAssocID="{E5455E02-A481-4E02-84B5-8D1AE559536F}" presName="tx1" presStyleLbl="revTx" presStyleIdx="1" presStyleCnt="6"/>
      <dgm:spPr/>
    </dgm:pt>
    <dgm:pt modelId="{4CD36412-026B-4160-BE9E-4C0769A3781F}" type="pres">
      <dgm:prSet presAssocID="{E5455E02-A481-4E02-84B5-8D1AE559536F}" presName="vert1" presStyleCnt="0"/>
      <dgm:spPr/>
    </dgm:pt>
    <dgm:pt modelId="{3696C9EE-BF26-4DCF-97C6-48B8D9BDB480}" type="pres">
      <dgm:prSet presAssocID="{763B74EE-7C9B-4954-9D23-2AD9DC8A19F5}" presName="thickLine" presStyleLbl="alignNode1" presStyleIdx="2" presStyleCnt="6"/>
      <dgm:spPr/>
    </dgm:pt>
    <dgm:pt modelId="{285FBBDF-265B-447A-A4A6-5E85AC799654}" type="pres">
      <dgm:prSet presAssocID="{763B74EE-7C9B-4954-9D23-2AD9DC8A19F5}" presName="horz1" presStyleCnt="0"/>
      <dgm:spPr/>
    </dgm:pt>
    <dgm:pt modelId="{53D3975F-C6F5-43C3-8E29-FD00170410C9}" type="pres">
      <dgm:prSet presAssocID="{763B74EE-7C9B-4954-9D23-2AD9DC8A19F5}" presName="tx1" presStyleLbl="revTx" presStyleIdx="2" presStyleCnt="6"/>
      <dgm:spPr/>
    </dgm:pt>
    <dgm:pt modelId="{057C21C5-4520-4921-84CC-1123A2658179}" type="pres">
      <dgm:prSet presAssocID="{763B74EE-7C9B-4954-9D23-2AD9DC8A19F5}" presName="vert1" presStyleCnt="0"/>
      <dgm:spPr/>
    </dgm:pt>
    <dgm:pt modelId="{65AF7A5A-063E-413B-BD58-58EBB86D8BCE}" type="pres">
      <dgm:prSet presAssocID="{53A8180A-2C85-4980-84F3-70482D10EBD8}" presName="thickLine" presStyleLbl="alignNode1" presStyleIdx="3" presStyleCnt="6"/>
      <dgm:spPr/>
    </dgm:pt>
    <dgm:pt modelId="{55516798-DD76-4166-B36B-1303F20543B9}" type="pres">
      <dgm:prSet presAssocID="{53A8180A-2C85-4980-84F3-70482D10EBD8}" presName="horz1" presStyleCnt="0"/>
      <dgm:spPr/>
    </dgm:pt>
    <dgm:pt modelId="{29AD6E60-F12E-45D2-A588-7501FAB8484F}" type="pres">
      <dgm:prSet presAssocID="{53A8180A-2C85-4980-84F3-70482D10EBD8}" presName="tx1" presStyleLbl="revTx" presStyleIdx="3" presStyleCnt="6"/>
      <dgm:spPr/>
    </dgm:pt>
    <dgm:pt modelId="{ED98BEA6-1E09-4AC0-B42A-7AC39398FB1E}" type="pres">
      <dgm:prSet presAssocID="{53A8180A-2C85-4980-84F3-70482D10EBD8}" presName="vert1" presStyleCnt="0"/>
      <dgm:spPr/>
    </dgm:pt>
    <dgm:pt modelId="{F2521697-7619-4F71-90DE-FD407924BA2D}" type="pres">
      <dgm:prSet presAssocID="{6FAD445D-DBF2-4176-BB06-6E2E832A1F4B}" presName="thickLine" presStyleLbl="alignNode1" presStyleIdx="4" presStyleCnt="6"/>
      <dgm:spPr/>
    </dgm:pt>
    <dgm:pt modelId="{8D81E333-783C-48D7-B04A-CBEC64BF4ED3}" type="pres">
      <dgm:prSet presAssocID="{6FAD445D-DBF2-4176-BB06-6E2E832A1F4B}" presName="horz1" presStyleCnt="0"/>
      <dgm:spPr/>
    </dgm:pt>
    <dgm:pt modelId="{F56E4D20-3F5D-4C5A-8E41-E765897B8487}" type="pres">
      <dgm:prSet presAssocID="{6FAD445D-DBF2-4176-BB06-6E2E832A1F4B}" presName="tx1" presStyleLbl="revTx" presStyleIdx="4" presStyleCnt="6"/>
      <dgm:spPr/>
    </dgm:pt>
    <dgm:pt modelId="{2FA9B2FF-211A-451A-8F84-471A1A459BED}" type="pres">
      <dgm:prSet presAssocID="{6FAD445D-DBF2-4176-BB06-6E2E832A1F4B}" presName="vert1" presStyleCnt="0"/>
      <dgm:spPr/>
    </dgm:pt>
    <dgm:pt modelId="{5DE7FD1D-1BE6-4EE7-8DC1-C21D722D0913}" type="pres">
      <dgm:prSet presAssocID="{FF516BF3-019F-4E62-910D-EC058CB7BFCD}" presName="thickLine" presStyleLbl="alignNode1" presStyleIdx="5" presStyleCnt="6"/>
      <dgm:spPr/>
    </dgm:pt>
    <dgm:pt modelId="{59D36C63-A46E-4C14-B862-858B25F8A947}" type="pres">
      <dgm:prSet presAssocID="{FF516BF3-019F-4E62-910D-EC058CB7BFCD}" presName="horz1" presStyleCnt="0"/>
      <dgm:spPr/>
    </dgm:pt>
    <dgm:pt modelId="{FA1C5E0A-1718-4A85-93BD-46577E8B5AED}" type="pres">
      <dgm:prSet presAssocID="{FF516BF3-019F-4E62-910D-EC058CB7BFCD}" presName="tx1" presStyleLbl="revTx" presStyleIdx="5" presStyleCnt="6"/>
      <dgm:spPr/>
    </dgm:pt>
    <dgm:pt modelId="{8FD09244-2205-4D02-A470-EC911AC5C45B}" type="pres">
      <dgm:prSet presAssocID="{FF516BF3-019F-4E62-910D-EC058CB7BFCD}" presName="vert1" presStyleCnt="0"/>
      <dgm:spPr/>
    </dgm:pt>
  </dgm:ptLst>
  <dgm:cxnLst>
    <dgm:cxn modelId="{FAA09E22-F6B5-4B69-8D02-6F92598D7016}" srcId="{769B494B-9971-44F3-B9E7-4C63ACFC40D5}" destId="{53A8180A-2C85-4980-84F3-70482D10EBD8}" srcOrd="3" destOrd="0" parTransId="{42A78C61-DD10-4DBF-9398-2CE2511E67CB}" sibTransId="{9E89C923-8292-498B-8DDF-D94F127F8E81}"/>
    <dgm:cxn modelId="{094DFA2B-8D99-452E-A939-EFFC7C4281B8}" type="presOf" srcId="{769B494B-9971-44F3-B9E7-4C63ACFC40D5}" destId="{B6FD2E7C-320F-4562-97CF-168F7A6F7D54}" srcOrd="0" destOrd="0" presId="urn:microsoft.com/office/officeart/2008/layout/LinedList"/>
    <dgm:cxn modelId="{82D4012E-1964-4DF9-86AA-6703F15D7DE3}" type="presOf" srcId="{6FAD445D-DBF2-4176-BB06-6E2E832A1F4B}" destId="{F56E4D20-3F5D-4C5A-8E41-E765897B8487}" srcOrd="0" destOrd="0" presId="urn:microsoft.com/office/officeart/2008/layout/LinedList"/>
    <dgm:cxn modelId="{0D0DF338-AD36-4365-BEFD-64D25DB09D26}" srcId="{769B494B-9971-44F3-B9E7-4C63ACFC40D5}" destId="{FF516BF3-019F-4E62-910D-EC058CB7BFCD}" srcOrd="5" destOrd="0" parTransId="{78741DA7-CA71-40A6-9A0D-8E1A615833B8}" sibTransId="{196F7110-CAF5-47BC-ABA7-088A7EDE4A0D}"/>
    <dgm:cxn modelId="{AA677A68-F812-43FA-BF40-C225D22202E0}" type="presOf" srcId="{E5455E02-A481-4E02-84B5-8D1AE559536F}" destId="{E1274BE1-30E7-4194-B918-EB1DE590A610}" srcOrd="0" destOrd="0" presId="urn:microsoft.com/office/officeart/2008/layout/LinedList"/>
    <dgm:cxn modelId="{52650753-0D54-4811-9929-5704A083AAC8}" srcId="{769B494B-9971-44F3-B9E7-4C63ACFC40D5}" destId="{763B74EE-7C9B-4954-9D23-2AD9DC8A19F5}" srcOrd="2" destOrd="0" parTransId="{AD199933-6C46-46A4-B895-3E935F10F163}" sibTransId="{BC4854AF-B1BA-4FCA-A1C1-830934F89B8F}"/>
    <dgm:cxn modelId="{F8314F8E-501A-424E-BA06-DF36B2156989}" type="presOf" srcId="{32A953FB-1E56-4A73-A636-82A9EDDDF8D4}" destId="{78EF3C27-FD11-4C16-AAF8-639DB10526B6}" srcOrd="0" destOrd="0" presId="urn:microsoft.com/office/officeart/2008/layout/LinedList"/>
    <dgm:cxn modelId="{8C0D039D-5212-4729-9A4D-00EFAD73F954}" srcId="{769B494B-9971-44F3-B9E7-4C63ACFC40D5}" destId="{6FAD445D-DBF2-4176-BB06-6E2E832A1F4B}" srcOrd="4" destOrd="0" parTransId="{93A19C05-C828-47E3-849A-35880FD24528}" sibTransId="{F92AF698-4F60-4876-975A-35850598D842}"/>
    <dgm:cxn modelId="{04FD5FB0-D36B-4721-83AE-383E190BCF79}" srcId="{769B494B-9971-44F3-B9E7-4C63ACFC40D5}" destId="{32A953FB-1E56-4A73-A636-82A9EDDDF8D4}" srcOrd="0" destOrd="0" parTransId="{35108751-1685-43A2-8A11-5CDAFC6D81A1}" sibTransId="{A622E57C-435F-4D18-B9E6-0B9AB4064210}"/>
    <dgm:cxn modelId="{56163DB7-47C3-45A0-978F-A9C10935829D}" type="presOf" srcId="{FF516BF3-019F-4E62-910D-EC058CB7BFCD}" destId="{FA1C5E0A-1718-4A85-93BD-46577E8B5AED}" srcOrd="0" destOrd="0" presId="urn:microsoft.com/office/officeart/2008/layout/LinedList"/>
    <dgm:cxn modelId="{0C2CC1BD-8B66-4E93-BD8B-97490ECC29F3}" type="presOf" srcId="{763B74EE-7C9B-4954-9D23-2AD9DC8A19F5}" destId="{53D3975F-C6F5-43C3-8E29-FD00170410C9}" srcOrd="0" destOrd="0" presId="urn:microsoft.com/office/officeart/2008/layout/LinedList"/>
    <dgm:cxn modelId="{2045EDF6-4E43-4FF9-8037-EDBFE834F5D9}" type="presOf" srcId="{53A8180A-2C85-4980-84F3-70482D10EBD8}" destId="{29AD6E60-F12E-45D2-A588-7501FAB8484F}" srcOrd="0" destOrd="0" presId="urn:microsoft.com/office/officeart/2008/layout/LinedList"/>
    <dgm:cxn modelId="{8A39FAF7-5328-4470-8D54-652608FDB181}" srcId="{769B494B-9971-44F3-B9E7-4C63ACFC40D5}" destId="{E5455E02-A481-4E02-84B5-8D1AE559536F}" srcOrd="1" destOrd="0" parTransId="{D2B58C3C-7085-402D-BBF8-368EEBEC9FA6}" sibTransId="{CBB61761-C841-4F8E-9188-C7249DA26BC6}"/>
    <dgm:cxn modelId="{521CC93D-0CD2-4C42-8068-C33284A09BB7}" type="presParOf" srcId="{B6FD2E7C-320F-4562-97CF-168F7A6F7D54}" destId="{4975F67F-2B6A-4D45-B818-E6B0BB0448F4}" srcOrd="0" destOrd="0" presId="urn:microsoft.com/office/officeart/2008/layout/LinedList"/>
    <dgm:cxn modelId="{C578DF32-FF72-42CC-B75F-997741077CD6}" type="presParOf" srcId="{B6FD2E7C-320F-4562-97CF-168F7A6F7D54}" destId="{D3B13910-E721-480C-A2C5-4DAA654B27CE}" srcOrd="1" destOrd="0" presId="urn:microsoft.com/office/officeart/2008/layout/LinedList"/>
    <dgm:cxn modelId="{7C82FDAF-9BC6-46E7-BB8E-A9A84D08F4E7}" type="presParOf" srcId="{D3B13910-E721-480C-A2C5-4DAA654B27CE}" destId="{78EF3C27-FD11-4C16-AAF8-639DB10526B6}" srcOrd="0" destOrd="0" presId="urn:microsoft.com/office/officeart/2008/layout/LinedList"/>
    <dgm:cxn modelId="{E7502788-43B0-4885-B5A3-031F1AB8E248}" type="presParOf" srcId="{D3B13910-E721-480C-A2C5-4DAA654B27CE}" destId="{FF504784-4EAA-4F83-ADD9-0BE69AED4AA7}" srcOrd="1" destOrd="0" presId="urn:microsoft.com/office/officeart/2008/layout/LinedList"/>
    <dgm:cxn modelId="{C6B4B700-2F50-4614-957D-2561908D216B}" type="presParOf" srcId="{B6FD2E7C-320F-4562-97CF-168F7A6F7D54}" destId="{C1A40635-921D-475C-A65A-D94AE027A3D1}" srcOrd="2" destOrd="0" presId="urn:microsoft.com/office/officeart/2008/layout/LinedList"/>
    <dgm:cxn modelId="{26C34904-ACE1-4D08-BA44-BD77656374F2}" type="presParOf" srcId="{B6FD2E7C-320F-4562-97CF-168F7A6F7D54}" destId="{FC62B2B8-FFDC-4E50-9F84-040CB16F126D}" srcOrd="3" destOrd="0" presId="urn:microsoft.com/office/officeart/2008/layout/LinedList"/>
    <dgm:cxn modelId="{BFA9329E-A945-4FF9-B127-46093788F64B}" type="presParOf" srcId="{FC62B2B8-FFDC-4E50-9F84-040CB16F126D}" destId="{E1274BE1-30E7-4194-B918-EB1DE590A610}" srcOrd="0" destOrd="0" presId="urn:microsoft.com/office/officeart/2008/layout/LinedList"/>
    <dgm:cxn modelId="{AFC873A5-4534-442A-883C-C2A09D7BB577}" type="presParOf" srcId="{FC62B2B8-FFDC-4E50-9F84-040CB16F126D}" destId="{4CD36412-026B-4160-BE9E-4C0769A3781F}" srcOrd="1" destOrd="0" presId="urn:microsoft.com/office/officeart/2008/layout/LinedList"/>
    <dgm:cxn modelId="{F9852479-438B-45D1-BF73-E4652C7C1372}" type="presParOf" srcId="{B6FD2E7C-320F-4562-97CF-168F7A6F7D54}" destId="{3696C9EE-BF26-4DCF-97C6-48B8D9BDB480}" srcOrd="4" destOrd="0" presId="urn:microsoft.com/office/officeart/2008/layout/LinedList"/>
    <dgm:cxn modelId="{563E6B92-8652-487C-8739-C00A1FD54C50}" type="presParOf" srcId="{B6FD2E7C-320F-4562-97CF-168F7A6F7D54}" destId="{285FBBDF-265B-447A-A4A6-5E85AC799654}" srcOrd="5" destOrd="0" presId="urn:microsoft.com/office/officeart/2008/layout/LinedList"/>
    <dgm:cxn modelId="{066A2F23-417D-44A4-A8AD-8313A8D663DF}" type="presParOf" srcId="{285FBBDF-265B-447A-A4A6-5E85AC799654}" destId="{53D3975F-C6F5-43C3-8E29-FD00170410C9}" srcOrd="0" destOrd="0" presId="urn:microsoft.com/office/officeart/2008/layout/LinedList"/>
    <dgm:cxn modelId="{2F1DFEA3-230F-46F4-8905-69BE09E7813C}" type="presParOf" srcId="{285FBBDF-265B-447A-A4A6-5E85AC799654}" destId="{057C21C5-4520-4921-84CC-1123A2658179}" srcOrd="1" destOrd="0" presId="urn:microsoft.com/office/officeart/2008/layout/LinedList"/>
    <dgm:cxn modelId="{1C86A001-D59E-4638-93B6-8D40D4861CD0}" type="presParOf" srcId="{B6FD2E7C-320F-4562-97CF-168F7A6F7D54}" destId="{65AF7A5A-063E-413B-BD58-58EBB86D8BCE}" srcOrd="6" destOrd="0" presId="urn:microsoft.com/office/officeart/2008/layout/LinedList"/>
    <dgm:cxn modelId="{D94BA180-2F7D-401A-8ED6-95D03192E090}" type="presParOf" srcId="{B6FD2E7C-320F-4562-97CF-168F7A6F7D54}" destId="{55516798-DD76-4166-B36B-1303F20543B9}" srcOrd="7" destOrd="0" presId="urn:microsoft.com/office/officeart/2008/layout/LinedList"/>
    <dgm:cxn modelId="{898A62BB-BA09-475F-834B-5D780CC28B4A}" type="presParOf" srcId="{55516798-DD76-4166-B36B-1303F20543B9}" destId="{29AD6E60-F12E-45D2-A588-7501FAB8484F}" srcOrd="0" destOrd="0" presId="urn:microsoft.com/office/officeart/2008/layout/LinedList"/>
    <dgm:cxn modelId="{716E09CB-90FA-4396-A98B-4176B1384F66}" type="presParOf" srcId="{55516798-DD76-4166-B36B-1303F20543B9}" destId="{ED98BEA6-1E09-4AC0-B42A-7AC39398FB1E}" srcOrd="1" destOrd="0" presId="urn:microsoft.com/office/officeart/2008/layout/LinedList"/>
    <dgm:cxn modelId="{2BC17789-BC35-405B-81BB-B49AC605B6FF}" type="presParOf" srcId="{B6FD2E7C-320F-4562-97CF-168F7A6F7D54}" destId="{F2521697-7619-4F71-90DE-FD407924BA2D}" srcOrd="8" destOrd="0" presId="urn:microsoft.com/office/officeart/2008/layout/LinedList"/>
    <dgm:cxn modelId="{AD287B42-6F27-4E10-AE3E-95B9F58E0717}" type="presParOf" srcId="{B6FD2E7C-320F-4562-97CF-168F7A6F7D54}" destId="{8D81E333-783C-48D7-B04A-CBEC64BF4ED3}" srcOrd="9" destOrd="0" presId="urn:microsoft.com/office/officeart/2008/layout/LinedList"/>
    <dgm:cxn modelId="{6BA7D1E0-F566-404A-9D61-7FCEC08496D2}" type="presParOf" srcId="{8D81E333-783C-48D7-B04A-CBEC64BF4ED3}" destId="{F56E4D20-3F5D-4C5A-8E41-E765897B8487}" srcOrd="0" destOrd="0" presId="urn:microsoft.com/office/officeart/2008/layout/LinedList"/>
    <dgm:cxn modelId="{452AB58A-7BE2-48C7-B6CF-E09E5A71589C}" type="presParOf" srcId="{8D81E333-783C-48D7-B04A-CBEC64BF4ED3}" destId="{2FA9B2FF-211A-451A-8F84-471A1A459BED}" srcOrd="1" destOrd="0" presId="urn:microsoft.com/office/officeart/2008/layout/LinedList"/>
    <dgm:cxn modelId="{6FD2699D-B3F0-4AC9-A5AD-DBE30495AF13}" type="presParOf" srcId="{B6FD2E7C-320F-4562-97CF-168F7A6F7D54}" destId="{5DE7FD1D-1BE6-4EE7-8DC1-C21D722D0913}" srcOrd="10" destOrd="0" presId="urn:microsoft.com/office/officeart/2008/layout/LinedList"/>
    <dgm:cxn modelId="{A2DEB23E-CB7B-4DED-8293-61A0CA346AAB}" type="presParOf" srcId="{B6FD2E7C-320F-4562-97CF-168F7A6F7D54}" destId="{59D36C63-A46E-4C14-B862-858B25F8A947}" srcOrd="11" destOrd="0" presId="urn:microsoft.com/office/officeart/2008/layout/LinedList"/>
    <dgm:cxn modelId="{B73007FF-B45F-4701-A936-BFB3AA6C003B}" type="presParOf" srcId="{59D36C63-A46E-4C14-B862-858B25F8A947}" destId="{FA1C5E0A-1718-4A85-93BD-46577E8B5AED}" srcOrd="0" destOrd="0" presId="urn:microsoft.com/office/officeart/2008/layout/LinedList"/>
    <dgm:cxn modelId="{04663AB1-E5CC-473B-8A4A-1073A23816C4}" type="presParOf" srcId="{59D36C63-A46E-4C14-B862-858B25F8A947}" destId="{8FD09244-2205-4D02-A470-EC911AC5C4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AD997-FA1A-4053-9BC4-5C5EA5FE9D03}">
      <dsp:nvSpPr>
        <dsp:cNvPr id="0" name=""/>
        <dsp:cNvSpPr/>
      </dsp:nvSpPr>
      <dsp:spPr>
        <a:xfrm>
          <a:off x="453752" y="661807"/>
          <a:ext cx="739599" cy="739599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F3D48-AFA2-48F3-A282-66C9A7BE984C}">
      <dsp:nvSpPr>
        <dsp:cNvPr id="0" name=""/>
        <dsp:cNvSpPr/>
      </dsp:nvSpPr>
      <dsp:spPr>
        <a:xfrm>
          <a:off x="1774" y="1688309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Processo</a:t>
          </a:r>
          <a:r>
            <a:rPr lang="en-US" sz="1600" kern="1200" dirty="0"/>
            <a:t> </a:t>
          </a:r>
          <a:r>
            <a:rPr lang="en-US" sz="1600" kern="1200" dirty="0" err="1"/>
            <a:t>contínuo</a:t>
          </a:r>
          <a:br>
            <a:rPr lang="en-US" sz="1600" kern="1200" dirty="0"/>
          </a:br>
          <a:endParaRPr lang="en-US" sz="1600" kern="1200" dirty="0"/>
        </a:p>
      </dsp:txBody>
      <dsp:txXfrm>
        <a:off x="1774" y="1688309"/>
        <a:ext cx="1643554" cy="657421"/>
      </dsp:txXfrm>
    </dsp:sp>
    <dsp:sp modelId="{62DD4149-C018-412C-ABE4-F8BB3D5579EB}">
      <dsp:nvSpPr>
        <dsp:cNvPr id="0" name=""/>
        <dsp:cNvSpPr/>
      </dsp:nvSpPr>
      <dsp:spPr>
        <a:xfrm>
          <a:off x="2384929" y="661807"/>
          <a:ext cx="739599" cy="73959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9CAB5-358B-422D-82DC-AE515651EF5D}">
      <dsp:nvSpPr>
        <dsp:cNvPr id="0" name=""/>
        <dsp:cNvSpPr/>
      </dsp:nvSpPr>
      <dsp:spPr>
        <a:xfrm>
          <a:off x="1932951" y="1688309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Aprimoramento</a:t>
          </a:r>
          <a:r>
            <a:rPr lang="en-US" sz="1600" kern="1200" dirty="0"/>
            <a:t> a </a:t>
          </a:r>
          <a:r>
            <a:rPr lang="en-US" sz="1600" kern="1200" dirty="0" err="1"/>
            <a:t>cada</a:t>
          </a:r>
          <a:r>
            <a:rPr lang="en-US" sz="1600" kern="1200" dirty="0"/>
            <a:t> </a:t>
          </a:r>
          <a:r>
            <a:rPr lang="en-US" sz="1600" kern="1200" dirty="0" err="1"/>
            <a:t>iteração</a:t>
          </a:r>
          <a:endParaRPr lang="en-US" sz="1600" kern="1200" dirty="0"/>
        </a:p>
      </dsp:txBody>
      <dsp:txXfrm>
        <a:off x="1932951" y="1688309"/>
        <a:ext cx="1643554" cy="657421"/>
      </dsp:txXfrm>
    </dsp:sp>
    <dsp:sp modelId="{0A96DA39-CC49-4314-9ACE-E8F0B665594A}">
      <dsp:nvSpPr>
        <dsp:cNvPr id="0" name=""/>
        <dsp:cNvSpPr/>
      </dsp:nvSpPr>
      <dsp:spPr>
        <a:xfrm>
          <a:off x="4316105" y="661807"/>
          <a:ext cx="739599" cy="739599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1848E-7B93-4FC6-AA2B-8C4D63C47E57}">
      <dsp:nvSpPr>
        <dsp:cNvPr id="0" name=""/>
        <dsp:cNvSpPr/>
      </dsp:nvSpPr>
      <dsp:spPr>
        <a:xfrm>
          <a:off x="3864128" y="1688309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Plena </a:t>
          </a:r>
          <a:r>
            <a:rPr lang="en-US" sz="1600" kern="1200" dirty="0" err="1"/>
            <a:t>adoção</a:t>
          </a:r>
          <a:r>
            <a:rPr lang="en-US" sz="1600" kern="1200" dirty="0"/>
            <a:t> do time</a:t>
          </a:r>
        </a:p>
      </dsp:txBody>
      <dsp:txXfrm>
        <a:off x="3864128" y="1688309"/>
        <a:ext cx="1643554" cy="657421"/>
      </dsp:txXfrm>
    </dsp:sp>
    <dsp:sp modelId="{82143FE3-324E-4D78-8344-AF40F0242ADF}">
      <dsp:nvSpPr>
        <dsp:cNvPr id="0" name=""/>
        <dsp:cNvSpPr/>
      </dsp:nvSpPr>
      <dsp:spPr>
        <a:xfrm>
          <a:off x="1419340" y="2756620"/>
          <a:ext cx="739599" cy="73959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0297C-C266-4D10-BFD1-C4E2ED72DFF6}">
      <dsp:nvSpPr>
        <dsp:cNvPr id="0" name=""/>
        <dsp:cNvSpPr/>
      </dsp:nvSpPr>
      <dsp:spPr>
        <a:xfrm>
          <a:off x="967363" y="3783122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Objetivos</a:t>
          </a:r>
          <a:r>
            <a:rPr lang="en-US" sz="1600" kern="1200" dirty="0"/>
            <a:t> claros e </a:t>
          </a:r>
          <a:r>
            <a:rPr lang="en-US" sz="1600" kern="1200" dirty="0" err="1"/>
            <a:t>mensuráveis</a:t>
          </a:r>
          <a:endParaRPr lang="en-US" sz="1600" kern="1200" dirty="0"/>
        </a:p>
      </dsp:txBody>
      <dsp:txXfrm>
        <a:off x="967363" y="3783122"/>
        <a:ext cx="1643554" cy="657421"/>
      </dsp:txXfrm>
    </dsp:sp>
    <dsp:sp modelId="{FC330E04-7589-4257-BFEB-FB9F22656AD5}">
      <dsp:nvSpPr>
        <dsp:cNvPr id="0" name=""/>
        <dsp:cNvSpPr/>
      </dsp:nvSpPr>
      <dsp:spPr>
        <a:xfrm>
          <a:off x="3350517" y="2756620"/>
          <a:ext cx="739599" cy="73959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58D91-F7FA-40E0-8AF5-F72C03CFCDEA}">
      <dsp:nvSpPr>
        <dsp:cNvPr id="0" name=""/>
        <dsp:cNvSpPr/>
      </dsp:nvSpPr>
      <dsp:spPr>
        <a:xfrm>
          <a:off x="2898540" y="3783122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Ações</a:t>
          </a:r>
          <a:r>
            <a:rPr lang="en-US" sz="1600" kern="1200" dirty="0"/>
            <a:t> </a:t>
          </a:r>
          <a:r>
            <a:rPr lang="en-US" sz="1600" kern="1200" dirty="0" err="1"/>
            <a:t>intensionais</a:t>
          </a:r>
          <a:endParaRPr lang="en-US" sz="1600" kern="1200" dirty="0"/>
        </a:p>
      </dsp:txBody>
      <dsp:txXfrm>
        <a:off x="2898540" y="3783122"/>
        <a:ext cx="1643554" cy="6574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5F67F-2B6A-4D45-B818-E6B0BB0448F4}">
      <dsp:nvSpPr>
        <dsp:cNvPr id="0" name=""/>
        <dsp:cNvSpPr/>
      </dsp:nvSpPr>
      <dsp:spPr>
        <a:xfrm>
          <a:off x="0" y="2723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F3C27-FD11-4C16-AAF8-639DB10526B6}">
      <dsp:nvSpPr>
        <dsp:cNvPr id="0" name=""/>
        <dsp:cNvSpPr/>
      </dsp:nvSpPr>
      <dsp:spPr>
        <a:xfrm>
          <a:off x="0" y="2723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dirty="0" err="1"/>
            <a:t>Redução</a:t>
          </a:r>
          <a:r>
            <a:rPr lang="en-US" sz="3200" i="0" kern="1200" dirty="0"/>
            <a:t> de </a:t>
          </a:r>
          <a:r>
            <a:rPr lang="en-US" sz="3200" i="0" kern="1200" dirty="0" err="1"/>
            <a:t>falhas</a:t>
          </a:r>
          <a:r>
            <a:rPr lang="en-US" sz="3200" i="0" kern="1200" dirty="0"/>
            <a:t> </a:t>
          </a:r>
          <a:r>
            <a:rPr lang="en-US" sz="3200" i="0" kern="1200" dirty="0" err="1"/>
            <a:t>humanas</a:t>
          </a:r>
          <a:endParaRPr lang="en-US" sz="3200" kern="1200" dirty="0"/>
        </a:p>
      </dsp:txBody>
      <dsp:txXfrm>
        <a:off x="0" y="2723"/>
        <a:ext cx="6675119" cy="928732"/>
      </dsp:txXfrm>
    </dsp:sp>
    <dsp:sp modelId="{C1A40635-921D-475C-A65A-D94AE027A3D1}">
      <dsp:nvSpPr>
        <dsp:cNvPr id="0" name=""/>
        <dsp:cNvSpPr/>
      </dsp:nvSpPr>
      <dsp:spPr>
        <a:xfrm>
          <a:off x="0" y="931455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74BE1-30E7-4194-B918-EB1DE590A610}">
      <dsp:nvSpPr>
        <dsp:cNvPr id="0" name=""/>
        <dsp:cNvSpPr/>
      </dsp:nvSpPr>
      <dsp:spPr>
        <a:xfrm>
          <a:off x="0" y="931455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dirty="0"/>
            <a:t>Maior </a:t>
          </a:r>
          <a:r>
            <a:rPr lang="en-US" sz="3200" i="0" kern="1200" dirty="0" err="1"/>
            <a:t>eficiência</a:t>
          </a:r>
          <a:r>
            <a:rPr lang="en-US" sz="3200" i="0" kern="1200" dirty="0"/>
            <a:t> e </a:t>
          </a:r>
          <a:r>
            <a:rPr lang="en-US" sz="3200" i="0" kern="1200" dirty="0" err="1"/>
            <a:t>rapidez</a:t>
          </a:r>
          <a:endParaRPr lang="en-US" sz="3200" kern="1200" dirty="0"/>
        </a:p>
      </dsp:txBody>
      <dsp:txXfrm>
        <a:off x="0" y="931455"/>
        <a:ext cx="6675119" cy="928732"/>
      </dsp:txXfrm>
    </dsp:sp>
    <dsp:sp modelId="{3696C9EE-BF26-4DCF-97C6-48B8D9BDB480}">
      <dsp:nvSpPr>
        <dsp:cNvPr id="0" name=""/>
        <dsp:cNvSpPr/>
      </dsp:nvSpPr>
      <dsp:spPr>
        <a:xfrm>
          <a:off x="0" y="1860187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3975F-C6F5-43C3-8E29-FD00170410C9}">
      <dsp:nvSpPr>
        <dsp:cNvPr id="0" name=""/>
        <dsp:cNvSpPr/>
      </dsp:nvSpPr>
      <dsp:spPr>
        <a:xfrm>
          <a:off x="0" y="1860187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dirty="0" err="1"/>
            <a:t>Melhoria</a:t>
          </a:r>
          <a:r>
            <a:rPr lang="en-US" sz="3200" i="0" kern="1200" dirty="0"/>
            <a:t> </a:t>
          </a:r>
          <a:r>
            <a:rPr lang="en-US" sz="3200" i="0" kern="1200" dirty="0" err="1"/>
            <a:t>na</a:t>
          </a:r>
          <a:r>
            <a:rPr lang="en-US" sz="3200" i="0" kern="1200" dirty="0"/>
            <a:t> </a:t>
          </a:r>
          <a:r>
            <a:rPr lang="en-US" sz="3200" i="0" kern="1200" dirty="0" err="1"/>
            <a:t>colaboração</a:t>
          </a:r>
          <a:r>
            <a:rPr lang="en-US" sz="3200" i="0" kern="1200" dirty="0"/>
            <a:t> das equipes</a:t>
          </a:r>
          <a:endParaRPr lang="en-US" sz="3200" kern="1200" dirty="0"/>
        </a:p>
      </dsp:txBody>
      <dsp:txXfrm>
        <a:off x="0" y="1860187"/>
        <a:ext cx="6675119" cy="928732"/>
      </dsp:txXfrm>
    </dsp:sp>
    <dsp:sp modelId="{65AF7A5A-063E-413B-BD58-58EBB86D8BCE}">
      <dsp:nvSpPr>
        <dsp:cNvPr id="0" name=""/>
        <dsp:cNvSpPr/>
      </dsp:nvSpPr>
      <dsp:spPr>
        <a:xfrm>
          <a:off x="0" y="2788919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D6E60-F12E-45D2-A588-7501FAB8484F}">
      <dsp:nvSpPr>
        <dsp:cNvPr id="0" name=""/>
        <dsp:cNvSpPr/>
      </dsp:nvSpPr>
      <dsp:spPr>
        <a:xfrm>
          <a:off x="0" y="2788919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dirty="0"/>
            <a:t>Maior </a:t>
          </a:r>
          <a:r>
            <a:rPr lang="en-US" sz="3200" i="0" kern="1200" dirty="0" err="1"/>
            <a:t>previsibilidade</a:t>
          </a:r>
          <a:r>
            <a:rPr lang="en-US" sz="3200" i="0" kern="1200" dirty="0"/>
            <a:t> e </a:t>
          </a:r>
          <a:r>
            <a:rPr lang="en-US" sz="3200" i="0" kern="1200" dirty="0" err="1"/>
            <a:t>confiabilidade</a:t>
          </a:r>
          <a:endParaRPr lang="en-US" sz="3200" kern="1200" dirty="0"/>
        </a:p>
      </dsp:txBody>
      <dsp:txXfrm>
        <a:off x="0" y="2788919"/>
        <a:ext cx="6675119" cy="928732"/>
      </dsp:txXfrm>
    </dsp:sp>
    <dsp:sp modelId="{F2521697-7619-4F71-90DE-FD407924BA2D}">
      <dsp:nvSpPr>
        <dsp:cNvPr id="0" name=""/>
        <dsp:cNvSpPr/>
      </dsp:nvSpPr>
      <dsp:spPr>
        <a:xfrm>
          <a:off x="0" y="3717652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E4D20-3F5D-4C5A-8E41-E765897B8487}">
      <dsp:nvSpPr>
        <dsp:cNvPr id="0" name=""/>
        <dsp:cNvSpPr/>
      </dsp:nvSpPr>
      <dsp:spPr>
        <a:xfrm>
          <a:off x="0" y="3717652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/>
            <a:t>Rastreamento de Responsabilidades</a:t>
          </a:r>
          <a:endParaRPr lang="en-US" sz="3200" kern="1200"/>
        </a:p>
      </dsp:txBody>
      <dsp:txXfrm>
        <a:off x="0" y="3717652"/>
        <a:ext cx="6675119" cy="928732"/>
      </dsp:txXfrm>
    </dsp:sp>
    <dsp:sp modelId="{5DE7FD1D-1BE6-4EE7-8DC1-C21D722D0913}">
      <dsp:nvSpPr>
        <dsp:cNvPr id="0" name=""/>
        <dsp:cNvSpPr/>
      </dsp:nvSpPr>
      <dsp:spPr>
        <a:xfrm>
          <a:off x="0" y="4646384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C5E0A-1718-4A85-93BD-46577E8B5AED}">
      <dsp:nvSpPr>
        <dsp:cNvPr id="0" name=""/>
        <dsp:cNvSpPr/>
      </dsp:nvSpPr>
      <dsp:spPr>
        <a:xfrm>
          <a:off x="0" y="4646384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dirty="0"/>
            <a:t>Maior </a:t>
          </a:r>
          <a:r>
            <a:rPr lang="en-US" sz="3200" i="0" kern="1200" dirty="0" err="1"/>
            <a:t>controle</a:t>
          </a:r>
          <a:r>
            <a:rPr lang="en-US" sz="3200" i="0" kern="1200" dirty="0"/>
            <a:t> e </a:t>
          </a:r>
          <a:r>
            <a:rPr lang="en-US" sz="3200" i="0" kern="1200" dirty="0" err="1"/>
            <a:t>rastreabilidade</a:t>
          </a:r>
          <a:endParaRPr lang="en-US" sz="3200" kern="1200" dirty="0"/>
        </a:p>
      </dsp:txBody>
      <dsp:txXfrm>
        <a:off x="0" y="4646384"/>
        <a:ext cx="6675119" cy="9287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5F67F-2B6A-4D45-B818-E6B0BB0448F4}">
      <dsp:nvSpPr>
        <dsp:cNvPr id="0" name=""/>
        <dsp:cNvSpPr/>
      </dsp:nvSpPr>
      <dsp:spPr>
        <a:xfrm>
          <a:off x="0" y="2723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F3C27-FD11-4C16-AAF8-639DB10526B6}">
      <dsp:nvSpPr>
        <dsp:cNvPr id="0" name=""/>
        <dsp:cNvSpPr/>
      </dsp:nvSpPr>
      <dsp:spPr>
        <a:xfrm>
          <a:off x="0" y="2723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/>
            <a:t>Histórico de Mudanças</a:t>
          </a:r>
          <a:endParaRPr lang="en-US" sz="3200" kern="1200"/>
        </a:p>
      </dsp:txBody>
      <dsp:txXfrm>
        <a:off x="0" y="2723"/>
        <a:ext cx="6675119" cy="928732"/>
      </dsp:txXfrm>
    </dsp:sp>
    <dsp:sp modelId="{C1A40635-921D-475C-A65A-D94AE027A3D1}">
      <dsp:nvSpPr>
        <dsp:cNvPr id="0" name=""/>
        <dsp:cNvSpPr/>
      </dsp:nvSpPr>
      <dsp:spPr>
        <a:xfrm>
          <a:off x="0" y="931455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74BE1-30E7-4194-B918-EB1DE590A610}">
      <dsp:nvSpPr>
        <dsp:cNvPr id="0" name=""/>
        <dsp:cNvSpPr/>
      </dsp:nvSpPr>
      <dsp:spPr>
        <a:xfrm>
          <a:off x="0" y="931455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/>
            <a:t>Gerenciamento de Conflitos</a:t>
          </a:r>
          <a:endParaRPr lang="en-US" sz="3200" kern="1200"/>
        </a:p>
      </dsp:txBody>
      <dsp:txXfrm>
        <a:off x="0" y="931455"/>
        <a:ext cx="6675119" cy="928732"/>
      </dsp:txXfrm>
    </dsp:sp>
    <dsp:sp modelId="{3696C9EE-BF26-4DCF-97C6-48B8D9BDB480}">
      <dsp:nvSpPr>
        <dsp:cNvPr id="0" name=""/>
        <dsp:cNvSpPr/>
      </dsp:nvSpPr>
      <dsp:spPr>
        <a:xfrm>
          <a:off x="0" y="1860187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3975F-C6F5-43C3-8E29-FD00170410C9}">
      <dsp:nvSpPr>
        <dsp:cNvPr id="0" name=""/>
        <dsp:cNvSpPr/>
      </dsp:nvSpPr>
      <dsp:spPr>
        <a:xfrm>
          <a:off x="0" y="1860187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/>
            <a:t>Ramificação e Mesclagem</a:t>
          </a:r>
          <a:endParaRPr lang="en-US" sz="3200" kern="1200"/>
        </a:p>
      </dsp:txBody>
      <dsp:txXfrm>
        <a:off x="0" y="1860187"/>
        <a:ext cx="6675119" cy="928732"/>
      </dsp:txXfrm>
    </dsp:sp>
    <dsp:sp modelId="{65AF7A5A-063E-413B-BD58-58EBB86D8BCE}">
      <dsp:nvSpPr>
        <dsp:cNvPr id="0" name=""/>
        <dsp:cNvSpPr/>
      </dsp:nvSpPr>
      <dsp:spPr>
        <a:xfrm>
          <a:off x="0" y="2788919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D6E60-F12E-45D2-A588-7501FAB8484F}">
      <dsp:nvSpPr>
        <dsp:cNvPr id="0" name=""/>
        <dsp:cNvSpPr/>
      </dsp:nvSpPr>
      <dsp:spPr>
        <a:xfrm>
          <a:off x="0" y="2788919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/>
            <a:t>Backup e Recuperação</a:t>
          </a:r>
          <a:endParaRPr lang="en-US" sz="3200" kern="1200"/>
        </a:p>
      </dsp:txBody>
      <dsp:txXfrm>
        <a:off x="0" y="2788919"/>
        <a:ext cx="6675119" cy="928732"/>
      </dsp:txXfrm>
    </dsp:sp>
    <dsp:sp modelId="{F2521697-7619-4F71-90DE-FD407924BA2D}">
      <dsp:nvSpPr>
        <dsp:cNvPr id="0" name=""/>
        <dsp:cNvSpPr/>
      </dsp:nvSpPr>
      <dsp:spPr>
        <a:xfrm>
          <a:off x="0" y="3717652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E4D20-3F5D-4C5A-8E41-E765897B8487}">
      <dsp:nvSpPr>
        <dsp:cNvPr id="0" name=""/>
        <dsp:cNvSpPr/>
      </dsp:nvSpPr>
      <dsp:spPr>
        <a:xfrm>
          <a:off x="0" y="3717652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/>
            <a:t>Rastreamento de Responsabilidades</a:t>
          </a:r>
          <a:endParaRPr lang="en-US" sz="3200" kern="1200"/>
        </a:p>
      </dsp:txBody>
      <dsp:txXfrm>
        <a:off x="0" y="3717652"/>
        <a:ext cx="6675119" cy="928732"/>
      </dsp:txXfrm>
    </dsp:sp>
    <dsp:sp modelId="{5DE7FD1D-1BE6-4EE7-8DC1-C21D722D0913}">
      <dsp:nvSpPr>
        <dsp:cNvPr id="0" name=""/>
        <dsp:cNvSpPr/>
      </dsp:nvSpPr>
      <dsp:spPr>
        <a:xfrm>
          <a:off x="0" y="4646384"/>
          <a:ext cx="66751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C5E0A-1718-4A85-93BD-46577E8B5AED}">
      <dsp:nvSpPr>
        <dsp:cNvPr id="0" name=""/>
        <dsp:cNvSpPr/>
      </dsp:nvSpPr>
      <dsp:spPr>
        <a:xfrm>
          <a:off x="0" y="4646384"/>
          <a:ext cx="6675119" cy="92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dirty="0" err="1"/>
            <a:t>Marcação</a:t>
          </a:r>
          <a:r>
            <a:rPr lang="en-US" sz="3200" i="0" kern="1200" dirty="0"/>
            <a:t> de </a:t>
          </a:r>
          <a:r>
            <a:rPr lang="en-US" sz="3200" i="0" kern="1200" dirty="0" err="1"/>
            <a:t>Versões</a:t>
          </a:r>
          <a:r>
            <a:rPr lang="en-US" sz="3200" i="0" kern="1200" dirty="0"/>
            <a:t> </a:t>
          </a:r>
          <a:r>
            <a:rPr lang="en-US" sz="3200" i="0" kern="1200" dirty="0" err="1"/>
            <a:t>Estáveis</a:t>
          </a:r>
          <a:endParaRPr lang="en-US" sz="3200" kern="1200" dirty="0"/>
        </a:p>
      </dsp:txBody>
      <dsp:txXfrm>
        <a:off x="0" y="4646384"/>
        <a:ext cx="6675119" cy="928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F3A79-1F21-4A53-97D1-0B179F5E7760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F306C-EC22-4028-A6E5-663AB19C817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629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.sharepoint.com/teams/DataAIPremierOfferings/_layouts/15/Doc.aspx?sourcedoc=%7BB2717BDC-6EBC-44EC-BE0A-B36CEA774D40%7D&amp;file=PowerBI%20Clinic%20-%20Slow%20Datasets%20Refresh%20%20-%20Delivery%20Guide.docx&amp;action=default&amp;mobileredirect=true&amp;DefaultItemOpen=1" TargetMode="External"/><Relationship Id="rId7" Type="http://schemas.openxmlformats.org/officeDocument/2006/relationships/hyperlink" Target="https://learn.microsoft.com/pt-br/dax/dax-queries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microsoft.sharepoint.com/teams/PowerBI-DeepTechnicalDeploymentSession/_layouts/15/Doc.aspx?sourcedoc=%7BAC9A0B18-A4E3-44DC-81FF-C6655D2ABF65%7D&amp;file=20200611%20-%20Improving%20Power%20BI%20Performance%20-%20Part%201.pptx&amp;action=edit&amp;mobileredirect=true&amp;DefaultItemOpen=1" TargetMode="External"/><Relationship Id="rId5" Type="http://schemas.openxmlformats.org/officeDocument/2006/relationships/hyperlink" Target="https://microsoft-my.sharepoint.com/personal/maguima_microsoft_com/Documents/FY25/Customers/%5bCRMB%c3%b4nus%5d%20-%20CICD%20Data/PBI%20-%20Performance%20&amp;%20Optimization%20Lab.docx?web=1" TargetMode="External"/><Relationship Id="rId4" Type="http://schemas.openxmlformats.org/officeDocument/2006/relationships/hyperlink" Target="https://learn.microsoft.com/en-us/power-query/query-diagnostics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049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A22C6-123B-29E3-7B8C-5ED6DCC5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BC6DA-AF1C-0E74-C828-87249D9A9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E5767-4443-B426-BCDD-67E83C092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80EC6-AEA5-144B-5F0C-3DD20B86A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181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117DC-1617-1E1A-9EDF-0A35D7045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AE8C1-32C9-F5FF-E7D0-134AED0FF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F47C6-E380-4CF4-14A1-5EB1E5CA4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EED23-8176-F0EC-AE30-430B07A8E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300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5AF58-7E28-92DB-57B5-57133FA8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3DEE7-4D95-E725-CBF5-0915B7609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8FD51-4360-C106-20CF-19DFA3082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744A5-3041-938C-CBB1-690DDE6E9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710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878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800" dirty="0" err="1"/>
              <a:t>Capacidade</a:t>
            </a:r>
            <a:r>
              <a:rPr lang="en-US" sz="800" dirty="0"/>
              <a:t>: Recursos </a:t>
            </a:r>
            <a:r>
              <a:rPr lang="en-US" sz="800" dirty="0" err="1"/>
              <a:t>computacionais</a:t>
            </a:r>
            <a:endParaRPr lang="en-US" sz="800" dirty="0"/>
          </a:p>
          <a:p>
            <a:pPr marL="171450" indent="-171450">
              <a:buFontTx/>
              <a:buChar char="-"/>
            </a:pPr>
            <a:r>
              <a:rPr lang="en-US" sz="800" dirty="0"/>
              <a:t>Autoscale: </a:t>
            </a:r>
          </a:p>
          <a:p>
            <a:pPr marL="457200" lvl="1" indent="0">
              <a:buFontTx/>
              <a:buNone/>
            </a:pPr>
            <a:r>
              <a:rPr lang="en-US" sz="800" dirty="0"/>
              <a:t>Azure Alerts: para </a:t>
            </a:r>
            <a:r>
              <a:rPr lang="en-US" sz="800" dirty="0" err="1"/>
              <a:t>acompanhar</a:t>
            </a:r>
            <a:r>
              <a:rPr lang="en-US" sz="800" dirty="0"/>
              <a:t> as </a:t>
            </a:r>
            <a:r>
              <a:rPr lang="en-US" sz="800" dirty="0" err="1"/>
              <a:t>métricas</a:t>
            </a:r>
            <a:r>
              <a:rPr lang="en-US" sz="800" dirty="0"/>
              <a:t> de </a:t>
            </a:r>
            <a:r>
              <a:rPr lang="en-US" sz="800" dirty="0" err="1"/>
              <a:t>capacidade</a:t>
            </a:r>
            <a:r>
              <a:rPr lang="en-US" sz="800" dirty="0"/>
              <a:t> </a:t>
            </a:r>
            <a:r>
              <a:rPr lang="en-US" sz="800" dirty="0" err="1"/>
              <a:t>como</a:t>
            </a:r>
            <a:r>
              <a:rPr lang="en-US" sz="800" dirty="0"/>
              <a:t> overload, </a:t>
            </a:r>
            <a:r>
              <a:rPr lang="en-US" sz="800" dirty="0" err="1"/>
              <a:t>uso</a:t>
            </a:r>
            <a:r>
              <a:rPr lang="en-US" sz="800" dirty="0"/>
              <a:t> de </a:t>
            </a:r>
            <a:r>
              <a:rPr lang="en-US" sz="800" dirty="0" err="1"/>
              <a:t>cpu</a:t>
            </a:r>
            <a:r>
              <a:rPr lang="en-US" sz="800" dirty="0"/>
              <a:t>, etc. </a:t>
            </a:r>
          </a:p>
          <a:p>
            <a:pPr marL="457200" lvl="1" indent="0">
              <a:buFontTx/>
              <a:buNone/>
            </a:pPr>
            <a:r>
              <a:rPr lang="en-US" sz="800" dirty="0"/>
              <a:t>Rest API </a:t>
            </a:r>
            <a:r>
              <a:rPr lang="en-US" sz="800" dirty="0" err="1"/>
              <a:t>ou</a:t>
            </a:r>
            <a:r>
              <a:rPr lang="en-US" sz="800" dirty="0"/>
              <a:t> scripts para scale up or down.</a:t>
            </a:r>
            <a:endParaRPr lang="pt-BR" sz="800" dirty="0"/>
          </a:p>
          <a:p>
            <a:pPr marL="171450" lvl="0" indent="-171450">
              <a:buFontTx/>
              <a:buChar char="-"/>
            </a:pPr>
            <a:r>
              <a:rPr lang="pt-BR" sz="800" dirty="0"/>
              <a:t>Métricas (importância das métricas): </a:t>
            </a:r>
          </a:p>
          <a:p>
            <a:pPr marL="457200" lvl="1" indent="0">
              <a:buFontTx/>
              <a:buNone/>
            </a:pPr>
            <a:r>
              <a:rPr lang="en-US" sz="800" dirty="0" err="1"/>
              <a:t>Entender</a:t>
            </a:r>
            <a:r>
              <a:rPr lang="en-US" sz="800" dirty="0"/>
              <a:t> as </a:t>
            </a:r>
            <a:r>
              <a:rPr lang="en-US" sz="800" dirty="0" err="1"/>
              <a:t>métricas</a:t>
            </a:r>
            <a:r>
              <a:rPr lang="en-US" sz="800" dirty="0"/>
              <a:t> de </a:t>
            </a:r>
            <a:r>
              <a:rPr lang="en-US" sz="800" dirty="0" err="1"/>
              <a:t>computação</a:t>
            </a:r>
            <a:r>
              <a:rPr lang="en-US" sz="800" dirty="0"/>
              <a:t>: Limite da </a:t>
            </a:r>
            <a:r>
              <a:rPr lang="en-US" sz="800" dirty="0" err="1"/>
              <a:t>capacidade</a:t>
            </a:r>
            <a:r>
              <a:rPr lang="en-US" sz="800" dirty="0"/>
              <a:t>, </a:t>
            </a:r>
            <a:r>
              <a:rPr lang="en-US" sz="800" dirty="0" err="1"/>
              <a:t>Média</a:t>
            </a:r>
            <a:r>
              <a:rPr lang="en-US" sz="800" dirty="0"/>
              <a:t> de </a:t>
            </a:r>
            <a:r>
              <a:rPr lang="en-US" sz="800" dirty="0" err="1"/>
              <a:t>utilização</a:t>
            </a:r>
            <a:r>
              <a:rPr lang="en-US" sz="800" dirty="0"/>
              <a:t>, </a:t>
            </a:r>
            <a:r>
              <a:rPr lang="en-US" sz="800" dirty="0" err="1"/>
              <a:t>pico</a:t>
            </a:r>
            <a:r>
              <a:rPr lang="en-US" sz="800" dirty="0"/>
              <a:t> de </a:t>
            </a:r>
            <a:r>
              <a:rPr lang="en-US" sz="800" dirty="0" err="1"/>
              <a:t>utlização</a:t>
            </a:r>
            <a:r>
              <a:rPr lang="en-US" sz="800" dirty="0"/>
              <a:t>.</a:t>
            </a:r>
          </a:p>
          <a:p>
            <a:pPr marL="457200" lvl="1" indent="0">
              <a:buFontTx/>
              <a:buNone/>
            </a:pPr>
            <a:r>
              <a:rPr lang="en-US" sz="800" dirty="0" err="1"/>
              <a:t>Entender</a:t>
            </a:r>
            <a:r>
              <a:rPr lang="en-US" sz="800" dirty="0"/>
              <a:t> as </a:t>
            </a:r>
            <a:r>
              <a:rPr lang="en-US" sz="800" dirty="0" err="1"/>
              <a:t>métricas</a:t>
            </a:r>
            <a:r>
              <a:rPr lang="en-US" sz="800" dirty="0"/>
              <a:t>: </a:t>
            </a:r>
            <a:r>
              <a:rPr lang="en-US" sz="800" dirty="0" err="1"/>
              <a:t>Interatividade</a:t>
            </a:r>
            <a:r>
              <a:rPr lang="en-US" sz="800" dirty="0"/>
              <a:t>, background, throttling, overage</a:t>
            </a:r>
          </a:p>
          <a:p>
            <a:pPr marL="457200" lvl="1" indent="0">
              <a:buFontTx/>
              <a:buNone/>
            </a:pPr>
            <a:r>
              <a:rPr lang="en-US" sz="800" dirty="0" err="1"/>
              <a:t>Determinar</a:t>
            </a:r>
            <a:r>
              <a:rPr lang="en-US" sz="800" dirty="0"/>
              <a:t> </a:t>
            </a:r>
            <a:r>
              <a:rPr lang="en-US" sz="800" dirty="0" err="1"/>
              <a:t>padrões</a:t>
            </a:r>
            <a:endParaRPr lang="en-US" sz="800" dirty="0"/>
          </a:p>
          <a:p>
            <a:pPr marL="457200" lvl="1" indent="0">
              <a:buFontTx/>
              <a:buNone/>
            </a:pPr>
            <a:r>
              <a:rPr lang="en-US" sz="800" dirty="0" err="1"/>
              <a:t>Definir</a:t>
            </a:r>
            <a:r>
              <a:rPr lang="en-US" sz="800" dirty="0"/>
              <a:t> </a:t>
            </a:r>
            <a:r>
              <a:rPr lang="en-US" sz="800" dirty="0" err="1"/>
              <a:t>responsabilidades</a:t>
            </a: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972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t-BR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175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EA1C2-974F-6837-FEA4-6DAA3797A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B7E11-C6CE-A387-FE21-98CDDFAEA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C179-3BCD-C565-BB21-B8294EF03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🧪 Query Diagnostics</a:t>
            </a:r>
          </a:p>
          <a:p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Ferramenta voltada para entender o comportamento das consultas no </a:t>
            </a:r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Query Editor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especialmente durante o processo de </a:t>
            </a:r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extração e transformação de dados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Diagnosticar o que está acontecendo nos bastidores quando você carrega ou transforma dados.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 usar: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Dentro do Power Query Editor.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que analisa: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Avaliações de etapas de transformação, tempo de execução por etapa, eventos de sistema, número de linhas processadas, tipo de fonte de dados.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Tipos de diagnóstico:</a:t>
            </a:r>
            <a:endParaRPr lang="pt-B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Sumarizado: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visão geral do tempo gasto por etapa.</a:t>
            </a:r>
          </a:p>
          <a:p>
            <a:pPr lvl="1"/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Detalhado: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linha por linha, útil para usuários avançados.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Saída: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Arquivos de log que podem ser analisados com relatórios como o PowerBI Clinic - Slow Datasets Refresh - Delivery Guide</a:t>
            </a:r>
            <a:r>
              <a:rPr lang="pt-BR" sz="10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[3]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⚙️ Performance Analyzer</a:t>
            </a:r>
          </a:p>
          <a:p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Ferramenta integrada ao </a:t>
            </a:r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Desktop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usada para analisar o desempenho de </a:t>
            </a:r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visuais e consultas DAX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durante a interação com o relatório.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Identificar quais elementos visuais ou consultas estão impactando o desempenho do relatório.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 usar: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aba "Exibir" do Power BI Desktop.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que analisa: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Tempo de renderização de visuais, tempo de execução de consultas DAX, tempo de outros processos internos.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Saída: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Logs que mostram o tempo de cada elemento, com opção de exportar a consulta DAX para análise posterior.</a:t>
            </a: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para:</a:t>
            </a:r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Otimizar relatórios já publicados ou em fase de desenvolvimento.</a:t>
            </a:r>
          </a:p>
          <a:p>
            <a:b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🆚 Resumo das Diferenças</a:t>
            </a:r>
          </a:p>
          <a:p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Característica Query Diagnostics Performance Analyzer Foco ETL (Extração e Transformação de Dados) Visualização e execução de consultas DAX Local de uso Power Query Editor Power BI Desktop Tipo de análise Técnica e detalhada por etapa Prática e voltada à experiência do usuário Saída Logs de diagnóstico Logs de desempenho por visual Público-alvo Desenvolvedores de ETL e modelagem Criadores de relatórios e dashboards </a:t>
            </a:r>
          </a:p>
          <a:p>
            <a:b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</a:p>
          <a:p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 </a:t>
            </a:r>
            <a:r>
              <a:rPr lang="pt-BR" sz="10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Query diagnostics - Power Query | Microsoft Learn</a:t>
            </a:r>
            <a:endParaRPr lang="pt-B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</a:t>
            </a:r>
            <a:r>
              <a:rPr lang="pt-BR" sz="10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PBI - Performance &amp; Optimization Lab</a:t>
            </a:r>
            <a:endParaRPr lang="pt-B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[3] </a:t>
            </a:r>
            <a:r>
              <a:rPr lang="pt-BR" sz="10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PowerBI Clinic - Slow Datasets Refresh - Delivery Guide</a:t>
            </a:r>
            <a:endParaRPr lang="pt-B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[4] </a:t>
            </a:r>
            <a:r>
              <a:rPr lang="pt-BR" sz="10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20200611 - Improving Power BI Performance - Part 1</a:t>
            </a:r>
            <a:endParaRPr lang="pt-B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000" dirty="0"/>
          </a:p>
          <a:p>
            <a:endParaRPr lang="pt-BR" sz="1000" dirty="0"/>
          </a:p>
          <a:p>
            <a:r>
              <a:rPr lang="pt-BR" sz="1000" b="1" dirty="0"/>
              <a:t>🧠 O que é DAX?</a:t>
            </a:r>
          </a:p>
          <a:p>
            <a:r>
              <a:rPr lang="pt-BR" sz="1000" dirty="0"/>
              <a:t>DAX é uma linguagem desenvolvida pela Microsoft que permite:</a:t>
            </a:r>
          </a:p>
          <a:p>
            <a:r>
              <a:rPr lang="pt-BR" sz="1000" dirty="0"/>
              <a:t>Criar </a:t>
            </a:r>
            <a:r>
              <a:rPr lang="pt-BR" sz="1000" b="1" dirty="0"/>
              <a:t>medidas</a:t>
            </a:r>
            <a:r>
              <a:rPr lang="pt-BR" sz="1000" dirty="0"/>
              <a:t> e </a:t>
            </a:r>
            <a:r>
              <a:rPr lang="pt-BR" sz="1000" b="1" dirty="0"/>
              <a:t>colunas calculadas</a:t>
            </a:r>
            <a:r>
              <a:rPr lang="pt-BR" sz="1000" dirty="0"/>
              <a:t>.</a:t>
            </a:r>
          </a:p>
          <a:p>
            <a:r>
              <a:rPr lang="pt-BR" sz="1000" dirty="0"/>
              <a:t>Realizar </a:t>
            </a:r>
            <a:r>
              <a:rPr lang="pt-BR" sz="1000" b="1" dirty="0"/>
              <a:t>consultas</a:t>
            </a:r>
            <a:r>
              <a:rPr lang="pt-BR" sz="1000" dirty="0"/>
              <a:t> que retornam </a:t>
            </a:r>
            <a:r>
              <a:rPr lang="pt-BR" sz="1000" b="1" dirty="0"/>
              <a:t>tabelas</a:t>
            </a:r>
            <a:r>
              <a:rPr lang="pt-BR" sz="1000" dirty="0"/>
              <a:t> ou </a:t>
            </a:r>
            <a:r>
              <a:rPr lang="pt-BR" sz="1000" b="1" dirty="0"/>
              <a:t>valores</a:t>
            </a:r>
            <a:r>
              <a:rPr lang="pt-BR" sz="1000" dirty="0"/>
              <a:t>.</a:t>
            </a:r>
          </a:p>
          <a:p>
            <a:r>
              <a:rPr lang="pt-BR" sz="1000" dirty="0"/>
              <a:t>Aplicar </a:t>
            </a:r>
            <a:r>
              <a:rPr lang="pt-BR" sz="1000" b="1" dirty="0"/>
              <a:t>filtros</a:t>
            </a:r>
            <a:r>
              <a:rPr lang="pt-BR" sz="1000" dirty="0"/>
              <a:t>, </a:t>
            </a:r>
            <a:r>
              <a:rPr lang="pt-BR" sz="1000" b="1" dirty="0"/>
              <a:t>agregações</a:t>
            </a:r>
            <a:r>
              <a:rPr lang="pt-BR" sz="1000" dirty="0"/>
              <a:t> e </a:t>
            </a:r>
            <a:r>
              <a:rPr lang="pt-BR" sz="1000" b="1" dirty="0"/>
              <a:t>lógica condicional</a:t>
            </a:r>
            <a:r>
              <a:rPr lang="pt-BR" sz="1000" dirty="0"/>
              <a:t>.</a:t>
            </a:r>
          </a:p>
          <a:p>
            <a:endParaRPr lang="pt-BR" sz="1000" dirty="0"/>
          </a:p>
          <a:p>
            <a:r>
              <a:rPr lang="pt-BR" sz="1000" b="1" dirty="0"/>
              <a:t>🔍 O que é uma </a:t>
            </a:r>
            <a:r>
              <a:rPr lang="pt-BR" sz="1000" b="1" i="1" dirty="0"/>
              <a:t>consulta DAX</a:t>
            </a:r>
            <a:r>
              <a:rPr lang="pt-BR" sz="1000" b="1" dirty="0"/>
              <a:t>?</a:t>
            </a:r>
          </a:p>
          <a:p>
            <a:r>
              <a:rPr lang="pt-BR" sz="1000" dirty="0"/>
              <a:t>Uma </a:t>
            </a:r>
            <a:r>
              <a:rPr lang="pt-BR" sz="1000" b="1" dirty="0"/>
              <a:t>consulta DAX</a:t>
            </a:r>
            <a:r>
              <a:rPr lang="pt-BR" sz="1000" dirty="0"/>
              <a:t> é um comando que você escreve para </a:t>
            </a:r>
            <a:r>
              <a:rPr lang="pt-BR" sz="1000" b="1" dirty="0"/>
              <a:t>consultar diretamente o modelo de dados</a:t>
            </a:r>
            <a:r>
              <a:rPr lang="pt-BR" sz="1000" dirty="0"/>
              <a:t>. Ela pode ser usada em ferramentas como:</a:t>
            </a:r>
          </a:p>
          <a:p>
            <a:r>
              <a:rPr lang="pt-BR" sz="1000" b="1" dirty="0"/>
              <a:t>Power BI Desktop</a:t>
            </a:r>
            <a:r>
              <a:rPr lang="pt-BR" sz="1000" dirty="0"/>
              <a:t> (via Performance Analyzer)</a:t>
            </a:r>
          </a:p>
          <a:p>
            <a:r>
              <a:rPr lang="pt-BR" sz="1000" b="1" dirty="0"/>
              <a:t>DAX Studio</a:t>
            </a:r>
            <a:endParaRPr lang="pt-BR" sz="1000" dirty="0"/>
          </a:p>
          <a:p>
            <a:r>
              <a:rPr lang="pt-BR" sz="1000" b="1" dirty="0"/>
              <a:t>SSMS (SQL Server Management Studio)</a:t>
            </a:r>
            <a:endParaRPr lang="pt-BR" sz="1000" dirty="0"/>
          </a:p>
          <a:p>
            <a:r>
              <a:rPr lang="pt-BR" sz="1000" b="1" dirty="0"/>
              <a:t>Microsoft Fabric Notebooks</a:t>
            </a:r>
            <a:endParaRPr lang="pt-BR" sz="1000" dirty="0"/>
          </a:p>
          <a:p>
            <a:r>
              <a:rPr lang="pt-BR" sz="1000" b="1" dirty="0"/>
              <a:t>Power Automate (via API REST)</a:t>
            </a:r>
            <a:r>
              <a:rPr lang="pt-BR" sz="1000" dirty="0"/>
              <a:t> </a:t>
            </a:r>
            <a:r>
              <a:rPr lang="pt-BR" sz="1000" dirty="0">
                <a:hlinkClick r:id="rId7"/>
              </a:rPr>
              <a:t>[Consultas...rosoft.com]</a:t>
            </a:r>
            <a:endParaRPr lang="pt-BR" sz="1000" dirty="0"/>
          </a:p>
          <a:p>
            <a:r>
              <a:rPr lang="pt-BR" sz="1000" dirty="0"/>
              <a:t>A estrutura básica de uma consulta DAX começa com a palavra-chave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EVALUATE</a:t>
            </a:r>
            <a:r>
              <a:rPr lang="pt-BR" sz="1000" dirty="0"/>
              <a:t>, seguida por uma expressão que retorna uma tabela.</a:t>
            </a:r>
          </a:p>
          <a:p>
            <a:pPr rtl="0"/>
            <a:endParaRPr lang="pt-BR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04424-2486-6617-03F3-58182EDAD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309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F8CFF-2871-1D4C-BF44-653DBEF3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4404E-7536-8058-61E1-DFA0EAB7C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C9777-9395-CF33-311A-94DCBF1CD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03FA4-32DA-AEBA-F2AB-B46E1C7D6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160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CUIDADOS GERAIS COM MODELOS DE IMPORTAÇÃO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Minimize os dados carregados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mesmo com a compactação do VertiPaq, é essencial reduzir o volume de dados para melhorar desempenho e uso de memória.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Evite modelos grandes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modelos maiores podem exceder limites de capacidade e dificultar atualizações e consultas.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Prefira granularidade adequada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dados mais agregados podem reduzir significativamente o tamanho do modelo.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Técnicas de redução de dados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Remover colunas desnecessárias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Elimine colunas que não são usadas em relatórios ou na estrutura do modelo.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Prefira projetar modelos com apenas as colunas necessárias.</a:t>
            </a:r>
          </a:p>
          <a:p>
            <a:endParaRPr lang="pt-B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Remover linhas desnecessárias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filtragem por tempo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(ex: últimos 5 anos) ou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entidade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(ex: apenas uma região).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Evite carregar todo o histórico por padrão.</a:t>
            </a:r>
          </a:p>
          <a:p>
            <a:endParaRPr lang="pt-B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Agrupar e resumir dados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Carregue dados já agregados (ex: por mês, cliente, produto).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Avalie a perda de detalhes versus ganho de desempenho.</a:t>
            </a:r>
          </a:p>
          <a:p>
            <a:endParaRPr lang="pt-B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Otimizar tipos de dados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Converta colunas de texto em números quando possível.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Tipos numéricos têm melhor compactação no VertiPaq.</a:t>
            </a:r>
          </a:p>
          <a:p>
            <a:endParaRPr lang="pt-B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Preferir colunas personalizadas no Power Query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Colunas calculadas em DAX são menos eficientes que colunas criadas no Power Query (M).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Sempre que possível, materialize cálculos na fonte de dados ou no Power Query.</a:t>
            </a:r>
          </a:p>
          <a:p>
            <a:endParaRPr lang="pt-B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Desabilitar carga de consultas auxiliares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Evite carregar consultas que servem apenas para transformação ou suporte.</a:t>
            </a:r>
          </a:p>
          <a:p>
            <a:endParaRPr lang="pt-B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Desabilitar data/hora automática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Essa opção cria tabelas ocultas que aumentam o tamanho do modelo.</a:t>
            </a:r>
          </a:p>
          <a:p>
            <a:endParaRPr lang="pt-B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Avaliar uso de DirectQuery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 ser útil para dados em tempo real ou volumes muito grandes.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 compensar perda de granularidade ao resumir dados.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SEGUIR BOAS PRÁTICAS DE PERFORMANCE PARA POWER BI EMBEDDED</a:t>
            </a:r>
          </a:p>
          <a:p>
            <a:endParaRPr lang="pt-B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Atualização de ferramentas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sempre a versão mais recente do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Desktop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SDK do cliente Power BI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Novas versões trazem melhorias de desempenho e correções.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Inicialização da incorporação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powerbi.preload() para pré-carregar arquivos JavaScript e CSS antes da incorporação.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powerbi.bootstrap() para preparar o iFrame antes de todos os parâmetros estarem disponíveis.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Parâmetros de incorporação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Evite gerar URLs manualmente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use as APIs oficiais para obter URLs de incorporação.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Permissões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use permissões de visualização se não for necessário modo de edição.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Filtros, bookmarks e slicers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salve o relatório com esses elementos aplicados para aproveitar dados em cache.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Troca entre relatórios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Reutilize o mesmo iFrame ao trocar relatórios, usando powerbi.embed() com nova configuração.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Evite criar múltiplos iFrames para diferentes relatórios.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Múltiplos visuais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Evite múltiplos iFrames para visuais do mesmo relatório.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custom-layout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dashboards para combinar visuais de diferentes modelos sem criar novos relatórios.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de consultas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 caching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capacidades Premium ou Embedded para acelerar a renderização de relatórios.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Medição de desempenho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os eventos Loaded e Rendered para medir tempo de carregamento e renderização.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Utilize o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 Analyzer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Power BI Desktop para identificar gargalos.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473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0043-1CA1-0559-934A-16B8E372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3601A-62F8-F2AF-40C6-CCB34F736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F3ED3-DA9F-6765-1D9E-ACCB81E6D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PRACTICE ANALYZER </a:t>
            </a:r>
          </a:p>
          <a:p>
            <a:r>
              <a:rPr lang="pt-BR" b="1" dirty="0"/>
              <a:t>Objetivo</a:t>
            </a:r>
            <a:r>
              <a:rPr lang="pt-BR" dirty="0"/>
              <a:t>: Validar regras de boas práticas em </a:t>
            </a:r>
            <a:r>
              <a:rPr lang="pt-BR" b="1" dirty="0"/>
              <a:t>modelos tabulares</a:t>
            </a:r>
            <a:r>
              <a:rPr lang="pt-BR" dirty="0"/>
              <a:t> (Power BI ou Analysis Services).</a:t>
            </a:r>
          </a:p>
          <a:p>
            <a:r>
              <a:rPr lang="pt-BR" b="1" dirty="0"/>
              <a:t>Foco</a:t>
            </a:r>
            <a:r>
              <a:rPr lang="pt-BR" dirty="0"/>
              <a:t>: Estrutura do modelo semântico (medidas, colunas, relacionamentos, propriedades).</a:t>
            </a:r>
          </a:p>
          <a:p>
            <a:r>
              <a:rPr lang="pt-BR" b="1" dirty="0"/>
              <a:t>Funcionalidade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Permite definir e aplicar </a:t>
            </a:r>
            <a:r>
              <a:rPr lang="pt-BR" b="1" dirty="0"/>
              <a:t>regras personalizadas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Identifica violações automaticamente durante o desenvolvimento.</a:t>
            </a:r>
          </a:p>
          <a:p>
            <a:pPr lvl="1"/>
            <a:r>
              <a:rPr lang="pt-BR" dirty="0"/>
              <a:t>Gera </a:t>
            </a:r>
            <a:r>
              <a:rPr lang="pt-BR" b="1" dirty="0"/>
              <a:t>scripts de correção</a:t>
            </a:r>
            <a:r>
              <a:rPr lang="pt-BR" dirty="0"/>
              <a:t> em C# para aplicar boas práticas.</a:t>
            </a:r>
          </a:p>
          <a:p>
            <a:pPr lvl="1"/>
            <a:r>
              <a:rPr lang="pt-BR" dirty="0"/>
              <a:t>Suporta múltiplas coleções de regras (por usuário, máquina, modelo).</a:t>
            </a:r>
          </a:p>
          <a:p>
            <a:r>
              <a:rPr lang="pt-BR" b="1" dirty="0"/>
              <a:t>Integração</a:t>
            </a:r>
            <a:r>
              <a:rPr lang="pt-BR" dirty="0"/>
              <a:t>: Usado dentro do </a:t>
            </a:r>
            <a:r>
              <a:rPr lang="pt-BR" b="1" dirty="0"/>
              <a:t>Tabular Editor 2 ou 3</a:t>
            </a:r>
            <a:r>
              <a:rPr lang="pt-BR" dirty="0"/>
              <a:t>.</a:t>
            </a:r>
          </a:p>
          <a:p>
            <a:r>
              <a:rPr lang="pt-BR" b="1" dirty="0"/>
              <a:t>Formato suportado</a:t>
            </a:r>
            <a:r>
              <a:rPr lang="pt-BR" dirty="0"/>
              <a:t>: Modelos tabulares (.bim, .pbix via TE).</a:t>
            </a:r>
          </a:p>
          <a:p>
            <a:r>
              <a:rPr lang="pt-BR" b="1" dirty="0"/>
              <a:t>Ideal para</a:t>
            </a:r>
            <a:r>
              <a:rPr lang="pt-BR" dirty="0"/>
              <a:t>: Desenvolvedores que trabalham com modelagem semântica e desejam padronizar convenções.</a:t>
            </a:r>
          </a:p>
          <a:p>
            <a:br>
              <a:rPr lang="pt-BR" dirty="0"/>
            </a:br>
            <a:r>
              <a:rPr lang="pt-BR" b="1" dirty="0"/>
              <a:t>PBI Inspector – Nat Van Gulck</a:t>
            </a:r>
          </a:p>
          <a:p>
            <a:r>
              <a:rPr lang="pt-BR" b="1" dirty="0"/>
              <a:t>Objetivo</a:t>
            </a:r>
            <a:r>
              <a:rPr lang="pt-BR" dirty="0"/>
              <a:t>: Fazer </a:t>
            </a:r>
            <a:r>
              <a:rPr lang="pt-BR" b="1" dirty="0"/>
              <a:t>análise estática</a:t>
            </a:r>
            <a:r>
              <a:rPr lang="pt-BR" dirty="0"/>
              <a:t> de relatórios Power BI (.pbip ou .pbix).</a:t>
            </a:r>
          </a:p>
          <a:p>
            <a:r>
              <a:rPr lang="pt-BR" b="1" dirty="0"/>
              <a:t>Foco</a:t>
            </a:r>
            <a:r>
              <a:rPr lang="pt-BR" dirty="0"/>
              <a:t>: Layout, consistência visual, acessibilidade, performance de visuais.</a:t>
            </a:r>
          </a:p>
          <a:p>
            <a:r>
              <a:rPr lang="pt-BR" b="1" dirty="0"/>
              <a:t>Funcionalidade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Examina o arquivo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report.json</a:t>
            </a:r>
            <a:r>
              <a:rPr lang="pt-BR" dirty="0"/>
              <a:t> para detectar problemas com base em regras.</a:t>
            </a:r>
          </a:p>
          <a:p>
            <a:pPr lvl="1"/>
            <a:r>
              <a:rPr lang="pt-BR" dirty="0"/>
              <a:t>Suporta </a:t>
            </a:r>
            <a:r>
              <a:rPr lang="pt-BR" b="1" dirty="0"/>
              <a:t>interface gráfica</a:t>
            </a:r>
            <a:r>
              <a:rPr lang="pt-BR" dirty="0"/>
              <a:t> e </a:t>
            </a:r>
            <a:r>
              <a:rPr lang="pt-BR" b="1" dirty="0"/>
              <a:t>linha de comando (CLI)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Pode ser integrado a </a:t>
            </a:r>
            <a:r>
              <a:rPr lang="pt-BR" b="1" dirty="0"/>
              <a:t>pipelines DevOps</a:t>
            </a:r>
            <a:r>
              <a:rPr lang="pt-BR" dirty="0"/>
              <a:t> para análise contínua.</a:t>
            </a:r>
          </a:p>
          <a:p>
            <a:pPr lvl="1"/>
            <a:r>
              <a:rPr lang="pt-BR" dirty="0"/>
              <a:t>Permite </a:t>
            </a:r>
            <a:r>
              <a:rPr lang="pt-BR" b="1" dirty="0"/>
              <a:t>customizar regras</a:t>
            </a:r>
            <a:r>
              <a:rPr lang="pt-BR" dirty="0"/>
              <a:t> conforme padrões organizacionais.</a:t>
            </a:r>
          </a:p>
          <a:p>
            <a:r>
              <a:rPr lang="pt-BR" b="1" dirty="0"/>
              <a:t>Formato suportado</a:t>
            </a:r>
            <a:r>
              <a:rPr lang="pt-BR" dirty="0"/>
              <a:t>: PBIP (Power BI Project) e PBIX (versão legacy).</a:t>
            </a:r>
          </a:p>
          <a:p>
            <a:r>
              <a:rPr lang="pt-BR" b="1" dirty="0"/>
              <a:t>Ideal para</a:t>
            </a:r>
            <a:r>
              <a:rPr lang="pt-BR" dirty="0"/>
              <a:t>: Equipes que querem garantir consistência visual e qualidade de relatórios em ambientes corporativos ou CI/CD. 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Measure Killer – Brunner BI</a:t>
            </a:r>
          </a:p>
          <a:p>
            <a:r>
              <a:rPr lang="pt-BR" b="1" dirty="0"/>
              <a:t>Objetivo</a:t>
            </a:r>
            <a:r>
              <a:rPr lang="pt-BR" dirty="0"/>
              <a:t>: Identificar e remover </a:t>
            </a:r>
            <a:r>
              <a:rPr lang="pt-BR" b="1" dirty="0"/>
              <a:t>medidas e colunas não utilizadas</a:t>
            </a:r>
            <a:r>
              <a:rPr lang="pt-BR" dirty="0"/>
              <a:t> em modelos Power BI.</a:t>
            </a:r>
          </a:p>
          <a:p>
            <a:r>
              <a:rPr lang="pt-BR" b="1" dirty="0"/>
              <a:t>Foco</a:t>
            </a:r>
            <a:r>
              <a:rPr lang="pt-BR" dirty="0"/>
              <a:t>: Otimização de modelos semânticos e limpeza de artefatos obsoletos.</a:t>
            </a:r>
          </a:p>
          <a:p>
            <a:r>
              <a:rPr lang="pt-BR" b="1" dirty="0"/>
              <a:t>Funcionalidades principais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Detecta </a:t>
            </a:r>
            <a:r>
              <a:rPr lang="pt-BR" b="1" dirty="0"/>
              <a:t>medidas e colunas não utilizadas</a:t>
            </a:r>
            <a:r>
              <a:rPr lang="pt-BR" dirty="0"/>
              <a:t> em relatórios e modelos.</a:t>
            </a:r>
          </a:p>
          <a:p>
            <a:pPr lvl="1"/>
            <a:r>
              <a:rPr lang="pt-BR" dirty="0"/>
              <a:t>Gera </a:t>
            </a:r>
            <a:r>
              <a:rPr lang="pt-BR" b="1" dirty="0"/>
              <a:t>scripts em C#</a:t>
            </a:r>
            <a:r>
              <a:rPr lang="pt-BR" dirty="0"/>
              <a:t> para remoção via Tabular Editor.</a:t>
            </a:r>
          </a:p>
          <a:p>
            <a:pPr lvl="1"/>
            <a:r>
              <a:rPr lang="pt-BR" dirty="0"/>
              <a:t>Gera </a:t>
            </a:r>
            <a:r>
              <a:rPr lang="pt-BR" b="1" dirty="0"/>
              <a:t>código M</a:t>
            </a:r>
            <a:r>
              <a:rPr lang="pt-BR" dirty="0"/>
              <a:t> para limpeza de colunas no Power Query.</a:t>
            </a:r>
          </a:p>
          <a:p>
            <a:pPr lvl="1"/>
            <a:r>
              <a:rPr lang="pt-BR" dirty="0"/>
              <a:t>Exporta resultados para Excel com detalhes de uso.</a:t>
            </a:r>
          </a:p>
          <a:p>
            <a:pPr lvl="1"/>
            <a:r>
              <a:rPr lang="pt-BR" dirty="0"/>
              <a:t>Permite </a:t>
            </a:r>
            <a:r>
              <a:rPr lang="pt-BR" b="1" dirty="0"/>
              <a:t>visualizar dependências</a:t>
            </a:r>
            <a:r>
              <a:rPr lang="pt-BR" dirty="0"/>
              <a:t> e </a:t>
            </a:r>
            <a:r>
              <a:rPr lang="pt-BR" b="1" dirty="0"/>
              <a:t>linhagem de dados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Suporta </a:t>
            </a:r>
            <a:r>
              <a:rPr lang="pt-BR" b="1" dirty="0"/>
              <a:t>análise de tenant</a:t>
            </a:r>
            <a:r>
              <a:rPr lang="pt-BR" dirty="0"/>
              <a:t> (versão paga): modelos, relatórios, permissões, dataflows, etc.</a:t>
            </a:r>
          </a:p>
          <a:p>
            <a:pPr lvl="1"/>
            <a:r>
              <a:rPr lang="pt-BR" dirty="0"/>
              <a:t>Compatível com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.pbix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.pbip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.pbit</a:t>
            </a:r>
            <a:r>
              <a:rPr lang="pt-BR" dirty="0"/>
              <a:t>, DirectQuery, Composite Models, entre outros. </a:t>
            </a:r>
          </a:p>
          <a:p>
            <a:r>
              <a:rPr lang="pt-BR" b="1" dirty="0"/>
              <a:t>Ideal para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Desenvolvedores e administradores que precisam </a:t>
            </a:r>
            <a:r>
              <a:rPr lang="pt-BR" b="1" dirty="0"/>
              <a:t>limpar modelos</a:t>
            </a:r>
            <a:r>
              <a:rPr lang="pt-BR" dirty="0"/>
              <a:t> e </a:t>
            </a:r>
            <a:r>
              <a:rPr lang="pt-BR" b="1" dirty="0"/>
              <a:t>documentar decisões de remoção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Equipes que gerenciam </a:t>
            </a:r>
            <a:r>
              <a:rPr lang="pt-BR" b="1" dirty="0"/>
              <a:t>múltiplos relatórios e workspaces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728E6-ABC4-CF9A-9865-5E467C0D0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767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1AF0-EBC9-0697-F800-2F447396E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6B9B6-6D1A-F7D4-8FC3-F1396012A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9C0FB-18FC-A010-D612-C878A5AA2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DDF98-DE63-2AF7-C9C5-C3216A3FB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559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437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2C1A-4F43-2C4C-DC7A-F1531D882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ADF16-A87A-5230-19AA-80395268F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EA56E-EFA4-42B5-17D8-DAAAED2FF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0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8322F-E8D3-AD89-8F2E-5D980BCAC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6148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0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746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831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4DB95-AF29-4018-FA0E-EA72C8DD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81398-6215-9BC9-8AD4-73F7BAA8D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0B63D-BED7-1553-116E-615F3D3F5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0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6B4A7-2DEF-DA21-3500-DE691BDCD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444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979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F306C-EC22-4028-A6E5-663AB19C817C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77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6358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42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35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0503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6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102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935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95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77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82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235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04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106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469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569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88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57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391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190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87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126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66534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5535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22791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9998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3790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556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94812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3851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6/24/2026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61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179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7275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345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116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817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542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460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102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1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000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507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4187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8240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68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5838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628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6/24/2026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440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6/24/2026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762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9492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17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191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2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ower-bi/developer/embedded/azure-pbie-scale-capacity#autoscale-your-capacity" TargetMode="External"/><Relationship Id="rId3" Type="http://schemas.openxmlformats.org/officeDocument/2006/relationships/hyperlink" Target="https://appsource.microsoft.com/en-us/product/power-bi/pbi_pcmm.microsoftpremiumfabricpreviewreport?exp=ubp8" TargetMode="External"/><Relationship Id="rId7" Type="http://schemas.openxmlformats.org/officeDocument/2006/relationships/hyperlink" Target="https://learn.microsoft.com/en-us/fabric/enterprise/licens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1.gif"/><Relationship Id="rId5" Type="http://schemas.microsoft.com/office/2007/relationships/hdphoto" Target="../media/hdphoto1.wdp"/><Relationship Id="rId10" Type="http://schemas.openxmlformats.org/officeDocument/2006/relationships/hyperlink" Target="https://learn.microsoft.com/en-us/fabric/enterprise/metrics-app-timepoint-page" TargetMode="External"/><Relationship Id="rId4" Type="http://schemas.openxmlformats.org/officeDocument/2006/relationships/image" Target="../media/image18.png"/><Relationship Id="rId9" Type="http://schemas.openxmlformats.org/officeDocument/2006/relationships/hyperlink" Target="https://learn.microsoft.com/en-us/fabric/enterprise/metrics-app-compute-pag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pt-br/power-bi/collaborate-share/service-usage-metrics" TargetMode="External"/><Relationship Id="rId13" Type="http://schemas.openxmlformats.org/officeDocument/2006/relationships/image" Target="../media/image26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12" Type="http://schemas.openxmlformats.org/officeDocument/2006/relationships/hyperlink" Target="https://learn.microsoft.com/en-us/power-bi/guidance/monitor-report-performance#use-performance-analyzer" TargetMode="External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xstudio.org/" TargetMode="External"/><Relationship Id="rId11" Type="http://schemas.openxmlformats.org/officeDocument/2006/relationships/image" Target="../media/image25.png"/><Relationship Id="rId5" Type="http://schemas.openxmlformats.org/officeDocument/2006/relationships/hyperlink" Target="https://learn.microsoft.com/en-us/power-bi/guidance/monitor-report-performance#use-query-diagnostics" TargetMode="External"/><Relationship Id="rId15" Type="http://schemas.openxmlformats.org/officeDocument/2006/relationships/image" Target="../media/image27.png"/><Relationship Id="rId10" Type="http://schemas.openxmlformats.org/officeDocument/2006/relationships/hyperlink" Target="https://learn.microsoft.com/pt-br/power-bi/collaborate-share/service-modern-usage-metrics" TargetMode="External"/><Relationship Id="rId4" Type="http://schemas.microsoft.com/office/2007/relationships/hdphoto" Target="../media/hdphoto1.wdp"/><Relationship Id="rId9" Type="http://schemas.openxmlformats.org/officeDocument/2006/relationships/image" Target="../media/image24.png"/><Relationship Id="rId14" Type="http://schemas.openxmlformats.org/officeDocument/2006/relationships/hyperlink" Target="https://learn.microsoft.com/en-us/sql/relational-databases/extended-events/use-the-ssms-xe-profiler?view=sql-server-ver1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ower-bi/developer/embedded/embedded-performance-best-practices" TargetMode="External"/><Relationship Id="rId3" Type="http://schemas.openxmlformats.org/officeDocument/2006/relationships/image" Target="../media/image18.png"/><Relationship Id="rId7" Type="http://schemas.openxmlformats.org/officeDocument/2006/relationships/hyperlink" Target="https://github.com/NatVanG/PBI-Inspector" TargetMode="External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brunner.bi/measurekiller" TargetMode="External"/><Relationship Id="rId11" Type="http://schemas.openxmlformats.org/officeDocument/2006/relationships/hyperlink" Target="https://docs.tabulareditor.com/te2/Best-Practice-Analyzer.html" TargetMode="External"/><Relationship Id="rId5" Type="http://schemas.openxmlformats.org/officeDocument/2006/relationships/hyperlink" Target="https://learn.microsoft.com/pt-pt/power-bi/guidance/power-bi-optimization" TargetMode="External"/><Relationship Id="rId10" Type="http://schemas.openxmlformats.org/officeDocument/2006/relationships/hyperlink" Target="https://github.com/TabularEditor/BestPracticeRules" TargetMode="External"/><Relationship Id="rId4" Type="http://schemas.microsoft.com/office/2007/relationships/hdphoto" Target="../media/hdphoto1.wdp"/><Relationship Id="rId9" Type="http://schemas.openxmlformats.org/officeDocument/2006/relationships/hyperlink" Target="https://powerbi.microsoft.com/en-us/blog/best-practice-rules-to-improve-your-models-performance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pacelift.io/blog/yaml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browse/?terms=power%20bi" TargetMode="External"/><Relationship Id="rId2" Type="http://schemas.openxmlformats.org/officeDocument/2006/relationships/hyperlink" Target="https://learn.microsoft.com/en-us/training/modules/optimize-model-power-bi/" TargetMode="Externa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ithub.com/en/get-started/using-git/getting-changes-from-a-remote-repository" TargetMode="External"/><Relationship Id="rId3" Type="http://schemas.openxmlformats.org/officeDocument/2006/relationships/hyperlink" Target="https://learn.microsoft.com/en-us/power-bi/developer/projects/projects-overview" TargetMode="External"/><Relationship Id="rId7" Type="http://schemas.openxmlformats.org/officeDocument/2006/relationships/hyperlink" Target="https://codingnomads.com/git-github-tutorial-series-recap" TargetMode="External"/><Relationship Id="rId2" Type="http://schemas.openxmlformats.org/officeDocument/2006/relationships/hyperlink" Target="https://learn.microsoft.com/en-us/power-bi/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ocs.github.com/pt/actions" TargetMode="External"/><Relationship Id="rId5" Type="http://schemas.openxmlformats.org/officeDocument/2006/relationships/hyperlink" Target="https://censius.ai/blogs/version-control-importance" TargetMode="External"/><Relationship Id="rId4" Type="http://schemas.openxmlformats.org/officeDocument/2006/relationships/hyperlink" Target="https://community.fabric.microsoft.com/t5/Power-BI-forums/ct-p/powerb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0E5DB-07A7-F565-643A-DF43CF612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0" y="475488"/>
            <a:ext cx="7254162" cy="1742112"/>
          </a:xfrm>
        </p:spPr>
        <p:txBody>
          <a:bodyPr anchor="t">
            <a:normAutofit/>
          </a:bodyPr>
          <a:lstStyle/>
          <a:p>
            <a:pPr algn="ctr"/>
            <a:r>
              <a:rPr lang="en-US" b="1" dirty="0" err="1"/>
              <a:t>Relatórios</a:t>
            </a:r>
            <a:r>
              <a:rPr lang="en-US" b="1" dirty="0"/>
              <a:t> Power BI</a:t>
            </a:r>
            <a:br>
              <a:rPr lang="en-US" b="1" dirty="0"/>
            </a:br>
            <a:r>
              <a:rPr lang="en-US" sz="3600" dirty="0"/>
              <a:t>Otimização de Performance</a:t>
            </a:r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29E50-5AC2-6FC7-4363-302D1B361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565936"/>
            <a:ext cx="7534656" cy="1591056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dirty="0" err="1"/>
              <a:t>Adotando</a:t>
            </a:r>
            <a:r>
              <a:rPr lang="en-US" sz="2800" dirty="0"/>
              <a:t> as </a:t>
            </a:r>
            <a:r>
              <a:rPr lang="en-US" sz="2800" dirty="0" err="1"/>
              <a:t>melhores</a:t>
            </a:r>
            <a:r>
              <a:rPr lang="en-US" sz="2800" dirty="0"/>
              <a:t> </a:t>
            </a:r>
            <a:r>
              <a:rPr lang="en-US" sz="2800" dirty="0" err="1"/>
              <a:t>práticas</a:t>
            </a:r>
            <a:endParaRPr lang="pt-BR" sz="28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B3D6A8F-CAAB-1DC3-117C-A34FD8CFBD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065" r="16065"/>
          <a:stretch>
            <a:fillRect/>
          </a:stretch>
        </p:blipFill>
        <p:spPr>
          <a:xfrm>
            <a:off x="7534275" y="0"/>
            <a:ext cx="4654550" cy="6858000"/>
          </a:xfrm>
          <a:prstGeom prst="rect">
            <a:avLst/>
          </a:prstGeom>
        </p:spPr>
      </p:pic>
      <p:pic>
        <p:nvPicPr>
          <p:cNvPr id="5" name="Picture 4" descr="Aeron available in the Microsoft Azure Marketplace">
            <a:extLst>
              <a:ext uri="{FF2B5EF4-FFF2-40B4-BE49-F238E27FC236}">
                <a16:creationId xmlns:a16="http://schemas.microsoft.com/office/drawing/2014/main" id="{1FC683E4-58EE-28FA-4F69-9D284433B0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9460" y="6123086"/>
            <a:ext cx="2819400" cy="9321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CD2AFAD3-5862-AF82-5EEC-8DD066E3B99A}"/>
              </a:ext>
            </a:extLst>
          </p:cNvPr>
          <p:cNvSpPr txBox="1">
            <a:spLocks/>
          </p:cNvSpPr>
          <p:nvPr/>
        </p:nvSpPr>
        <p:spPr>
          <a:xfrm>
            <a:off x="2716434" y="4611230"/>
            <a:ext cx="4681728" cy="1591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dirty="0"/>
              <a:t>M</a:t>
            </a:r>
            <a:r>
              <a:rPr lang="pt-BR" sz="1400" dirty="0"/>
              <a:t>arta Masson Guimarães</a:t>
            </a:r>
          </a:p>
          <a:p>
            <a:pPr>
              <a:lnSpc>
                <a:spcPct val="100000"/>
              </a:lnSpc>
            </a:pPr>
            <a:r>
              <a:rPr lang="pt-BR" sz="1100" dirty="0"/>
              <a:t>Digital Cloud Solution Architect</a:t>
            </a:r>
          </a:p>
        </p:txBody>
      </p:sp>
    </p:spTree>
    <p:extLst>
      <p:ext uri="{BB962C8B-B14F-4D97-AF65-F5344CB8AC3E}">
        <p14:creationId xmlns:p14="http://schemas.microsoft.com/office/powerpoint/2010/main" val="187162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AC4E8-313D-F64C-A26F-1A374377F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0420-CF67-1CAF-C5BB-13D61A76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56615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0" kern="1200" dirty="0">
                <a:latin typeface="+mj-lt"/>
                <a:ea typeface="+mj-ea"/>
                <a:cs typeface="+mj-cs"/>
              </a:rPr>
              <a:t>Agenda</a:t>
            </a:r>
            <a:br>
              <a:rPr lang="en-US" b="0" kern="1200" dirty="0">
                <a:latin typeface="+mj-lt"/>
                <a:ea typeface="+mj-ea"/>
                <a:cs typeface="+mj-cs"/>
              </a:rPr>
            </a:br>
            <a:endParaRPr lang="en-US" b="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1D63476-090C-7720-7CA4-91CD05D7CCE6}"/>
              </a:ext>
            </a:extLst>
          </p:cNvPr>
          <p:cNvSpPr txBox="1">
            <a:spLocks/>
          </p:cNvSpPr>
          <p:nvPr/>
        </p:nvSpPr>
        <p:spPr>
          <a:xfrm>
            <a:off x="4892040" y="640081"/>
            <a:ext cx="6675120" cy="55778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b="1" dirty="0" err="1"/>
              <a:t>Otimizãção</a:t>
            </a:r>
            <a:r>
              <a:rPr lang="en-US" b="1" dirty="0"/>
              <a:t> de </a:t>
            </a:r>
            <a:r>
              <a:rPr lang="en-US" b="1" dirty="0" err="1"/>
              <a:t>Relatórios</a:t>
            </a:r>
            <a:r>
              <a:rPr lang="en-US" b="1" dirty="0"/>
              <a:t> Power BI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Entendendo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critérios</a:t>
            </a:r>
            <a:r>
              <a:rPr lang="en-US" dirty="0"/>
              <a:t> para </a:t>
            </a:r>
            <a:r>
              <a:rPr lang="en-US" dirty="0" err="1"/>
              <a:t>aprimoramento</a:t>
            </a:r>
            <a:r>
              <a:rPr lang="en-US" dirty="0"/>
              <a:t> da </a:t>
            </a:r>
            <a:r>
              <a:rPr lang="en-US" dirty="0" err="1"/>
              <a:t>eficiência</a:t>
            </a:r>
            <a:r>
              <a:rPr lang="en-US" dirty="0"/>
              <a:t> no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vida</a:t>
            </a:r>
            <a:r>
              <a:rPr lang="en-US" dirty="0"/>
              <a:t> dos </a:t>
            </a:r>
            <a:r>
              <a:rPr lang="en-US" dirty="0" err="1"/>
              <a:t>relatórios</a:t>
            </a:r>
            <a:r>
              <a:rPr lang="en-US" dirty="0"/>
              <a:t> de </a:t>
            </a:r>
            <a:r>
              <a:rPr lang="en-US" dirty="0" err="1"/>
              <a:t>Pbi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Visão</a:t>
            </a:r>
            <a:r>
              <a:rPr lang="en-US" dirty="0"/>
              <a:t> do </a:t>
            </a:r>
            <a:r>
              <a:rPr lang="en-US" dirty="0" err="1"/>
              <a:t>processo</a:t>
            </a:r>
            <a:r>
              <a:rPr lang="en-US" dirty="0"/>
              <a:t> e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etapas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Monitoramento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Análise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Ações</a:t>
            </a:r>
            <a:r>
              <a:rPr lang="en-US" dirty="0"/>
              <a:t> de </a:t>
            </a:r>
            <a:r>
              <a:rPr lang="en-US" dirty="0" err="1"/>
              <a:t>otimização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 err="1"/>
              <a:t>Esteira</a:t>
            </a:r>
            <a:r>
              <a:rPr lang="en-US" b="1" dirty="0"/>
              <a:t> de CI / CD de </a:t>
            </a:r>
            <a:r>
              <a:rPr lang="en-US" b="1" dirty="0" err="1"/>
              <a:t>Relatórios</a:t>
            </a:r>
            <a:r>
              <a:rPr lang="en-US" b="1" dirty="0"/>
              <a:t> Power BI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Opções</a:t>
            </a:r>
            <a:r>
              <a:rPr lang="en-US" dirty="0"/>
              <a:t> de Deployment </a:t>
            </a:r>
            <a:r>
              <a:rPr lang="en-US" dirty="0" err="1"/>
              <a:t>automatizado</a:t>
            </a:r>
            <a:r>
              <a:rPr lang="en-US" dirty="0"/>
              <a:t> para </a:t>
            </a:r>
            <a:r>
              <a:rPr lang="en-US" dirty="0" err="1"/>
              <a:t>relatórios</a:t>
            </a:r>
            <a:r>
              <a:rPr lang="en-US" dirty="0"/>
              <a:t> de </a:t>
            </a:r>
            <a:r>
              <a:rPr lang="en-US" dirty="0" err="1"/>
              <a:t>Pbi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Versionamento</a:t>
            </a:r>
            <a:r>
              <a:rPr lang="en-US" dirty="0"/>
              <a:t> de </a:t>
            </a:r>
            <a:r>
              <a:rPr lang="en-US" dirty="0" err="1"/>
              <a:t>fonte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Git - </a:t>
            </a:r>
            <a:r>
              <a:rPr lang="en-US" dirty="0" err="1"/>
              <a:t>Estratégia</a:t>
            </a:r>
            <a:r>
              <a:rPr lang="en-US" dirty="0"/>
              <a:t> de branching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Git – </a:t>
            </a:r>
            <a:r>
              <a:rPr lang="en-US" dirty="0" err="1"/>
              <a:t>Comandos</a:t>
            </a:r>
            <a:r>
              <a:rPr lang="en-US" dirty="0"/>
              <a:t> </a:t>
            </a:r>
            <a:r>
              <a:rPr lang="en-US" dirty="0" err="1"/>
              <a:t>básicos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Git – </a:t>
            </a:r>
            <a:r>
              <a:rPr lang="en-US" dirty="0" err="1"/>
              <a:t>Usando</a:t>
            </a:r>
            <a:r>
              <a:rPr lang="en-US" dirty="0"/>
              <a:t> o </a:t>
            </a:r>
            <a:r>
              <a:rPr lang="en-US" dirty="0" err="1"/>
              <a:t>vscode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Git – </a:t>
            </a:r>
            <a:r>
              <a:rPr lang="en-US" dirty="0" err="1"/>
              <a:t>Automatizando</a:t>
            </a:r>
            <a:r>
              <a:rPr lang="en-US" dirty="0"/>
              <a:t> com </a:t>
            </a:r>
            <a:r>
              <a:rPr lang="en-US" dirty="0" err="1"/>
              <a:t>Github</a:t>
            </a:r>
            <a:r>
              <a:rPr lang="en-US" dirty="0"/>
              <a:t> actions</a:t>
            </a:r>
          </a:p>
          <a:p>
            <a:pPr>
              <a:lnSpc>
                <a:spcPct val="110000"/>
              </a:lnSpc>
            </a:pPr>
            <a:r>
              <a:rPr lang="en-US" b="1" dirty="0"/>
              <a:t>Como </a:t>
            </a:r>
            <a:r>
              <a:rPr lang="en-US" b="1" dirty="0" err="1"/>
              <a:t>começar</a:t>
            </a:r>
            <a:endParaRPr lang="en-US" b="1" dirty="0"/>
          </a:p>
          <a:p>
            <a:pPr>
              <a:lnSpc>
                <a:spcPct val="110000"/>
              </a:lnSpc>
            </a:pPr>
            <a:r>
              <a:rPr lang="en-US" b="1" dirty="0" err="1"/>
              <a:t>Exercícios</a:t>
            </a:r>
            <a:r>
              <a:rPr lang="en-US" b="1" dirty="0"/>
              <a:t> </a:t>
            </a:r>
            <a:r>
              <a:rPr lang="en-US" b="1" dirty="0" err="1"/>
              <a:t>práticos</a:t>
            </a:r>
            <a:endParaRPr lang="en-US" b="1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DCA39-0438-C976-17C2-4548C4B2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9E778-4720-A9E7-2F56-5F0ACECD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kern="1200">
                <a:latin typeface="+mj-lt"/>
                <a:ea typeface="+mj-ea"/>
                <a:cs typeface="+mj-cs"/>
              </a:rPr>
              <a:t>Requisitos</a:t>
            </a:r>
            <a:endParaRPr lang="en-US" b="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6DB994C-6D13-C931-8D82-4AF00030CD50}"/>
              </a:ext>
            </a:extLst>
          </p:cNvPr>
          <p:cNvSpPr txBox="1">
            <a:spLocks/>
          </p:cNvSpPr>
          <p:nvPr/>
        </p:nvSpPr>
        <p:spPr>
          <a:xfrm>
            <a:off x="2249424" y="2313432"/>
            <a:ext cx="8732520" cy="3895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Otimizãção</a:t>
            </a:r>
            <a:r>
              <a:rPr lang="en-US" b="1" dirty="0"/>
              <a:t> de </a:t>
            </a:r>
            <a:r>
              <a:rPr lang="en-US" b="1" dirty="0" err="1"/>
              <a:t>Relatórios</a:t>
            </a:r>
            <a:r>
              <a:rPr lang="en-US" b="1" dirty="0"/>
              <a:t> </a:t>
            </a:r>
            <a:r>
              <a:rPr lang="en-US" b="1" dirty="0" err="1"/>
              <a:t>Pbi</a:t>
            </a:r>
            <a:endParaRPr lang="en-US" b="1" dirty="0"/>
          </a:p>
          <a:p>
            <a:pPr marL="457200" lvl="2">
              <a:spcBef>
                <a:spcPts val="1000"/>
              </a:spcBef>
            </a:pPr>
            <a:r>
              <a:rPr lang="en-US" sz="1600" dirty="0"/>
              <a:t>Custos</a:t>
            </a:r>
          </a:p>
          <a:p>
            <a:pPr marL="457200" lvl="2">
              <a:spcBef>
                <a:spcPts val="1000"/>
              </a:spcBef>
            </a:pPr>
            <a:r>
              <a:rPr lang="en-US" sz="1600" dirty="0" err="1"/>
              <a:t>Experiência</a:t>
            </a:r>
            <a:r>
              <a:rPr lang="en-US" sz="1600" dirty="0"/>
              <a:t> do </a:t>
            </a:r>
            <a:r>
              <a:rPr lang="en-US" sz="1600" dirty="0" err="1"/>
              <a:t>usuário</a:t>
            </a:r>
            <a:r>
              <a:rPr lang="en-US" sz="1600" dirty="0"/>
              <a:t> (performance)</a:t>
            </a:r>
          </a:p>
          <a:p>
            <a:pPr marL="228600" lvl="1">
              <a:spcBef>
                <a:spcPts val="1000"/>
              </a:spcBef>
            </a:pPr>
            <a:endParaRPr lang="en-US" sz="1800" dirty="0"/>
          </a:p>
          <a:p>
            <a:r>
              <a:rPr lang="en-US" b="1" dirty="0" err="1"/>
              <a:t>Eficiência</a:t>
            </a:r>
            <a:r>
              <a:rPr lang="en-US" b="1" dirty="0"/>
              <a:t> no </a:t>
            </a:r>
            <a:r>
              <a:rPr lang="en-US" b="1" dirty="0" err="1"/>
              <a:t>processo</a:t>
            </a:r>
            <a:r>
              <a:rPr lang="en-US" b="1" dirty="0"/>
              <a:t> de </a:t>
            </a:r>
            <a:r>
              <a:rPr lang="en-US" b="1" dirty="0" err="1"/>
              <a:t>entrega</a:t>
            </a:r>
            <a:r>
              <a:rPr lang="en-US" b="1" dirty="0"/>
              <a:t> de </a:t>
            </a:r>
            <a:r>
              <a:rPr lang="en-US" b="1" dirty="0" err="1"/>
              <a:t>reportes</a:t>
            </a:r>
            <a:endParaRPr lang="en-US" b="1" dirty="0"/>
          </a:p>
          <a:p>
            <a:pPr marL="457200" lvl="2">
              <a:spcBef>
                <a:spcPts val="1000"/>
              </a:spcBef>
            </a:pPr>
            <a:r>
              <a:rPr lang="en-US" sz="1600" dirty="0"/>
              <a:t>Maior </a:t>
            </a:r>
            <a:r>
              <a:rPr lang="en-US" sz="1600" dirty="0" err="1"/>
              <a:t>agilidade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correção</a:t>
            </a:r>
            <a:r>
              <a:rPr lang="en-US" sz="1600" dirty="0"/>
              <a:t> de </a:t>
            </a:r>
            <a:r>
              <a:rPr lang="en-US" sz="1600" dirty="0" err="1"/>
              <a:t>erros</a:t>
            </a:r>
            <a:r>
              <a:rPr lang="en-US" sz="1600" dirty="0"/>
              <a:t> e </a:t>
            </a:r>
            <a:r>
              <a:rPr lang="en-US" sz="1600" dirty="0" err="1"/>
              <a:t>ajustes</a:t>
            </a:r>
            <a:r>
              <a:rPr lang="en-US" sz="1600" dirty="0"/>
              <a:t> de </a:t>
            </a:r>
            <a:r>
              <a:rPr lang="en-US" sz="1600" dirty="0" err="1"/>
              <a:t>relatórios</a:t>
            </a:r>
            <a:endParaRPr lang="en-US" sz="1600" dirty="0"/>
          </a:p>
          <a:p>
            <a:pPr marL="457200" lvl="2">
              <a:spcBef>
                <a:spcPts val="1000"/>
              </a:spcBef>
            </a:pPr>
            <a:r>
              <a:rPr lang="en-US" sz="1600" dirty="0" err="1"/>
              <a:t>Rastreabilidade</a:t>
            </a:r>
            <a:r>
              <a:rPr lang="en-US" sz="1600" dirty="0"/>
              <a:t> de </a:t>
            </a:r>
            <a:r>
              <a:rPr lang="en-US" sz="1600" dirty="0" err="1"/>
              <a:t>alterações</a:t>
            </a: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83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37CC2-AF6C-D236-8794-621507FF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AA0D-5682-75FC-B242-B9354F36F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29" y="2103120"/>
            <a:ext cx="4363279" cy="2624328"/>
          </a:xfrm>
        </p:spPr>
        <p:txBody>
          <a:bodyPr anchor="ctr">
            <a:normAutofit fontScale="90000"/>
          </a:bodyPr>
          <a:lstStyle/>
          <a:p>
            <a:r>
              <a:rPr lang="en-US" sz="4400" dirty="0"/>
              <a:t>Otimização de Performance de </a:t>
            </a:r>
            <a:r>
              <a:rPr lang="en-US" sz="4400" dirty="0" err="1"/>
              <a:t>relatórios</a:t>
            </a:r>
            <a:r>
              <a:rPr lang="en-US" sz="4400" dirty="0"/>
              <a:t> de Power BI</a:t>
            </a:r>
            <a:br>
              <a:rPr lang="en-US" sz="4400" dirty="0"/>
            </a:br>
            <a:br>
              <a:rPr lang="en-US" sz="4400" dirty="0"/>
            </a:br>
            <a:r>
              <a:rPr lang="en-US" sz="2700" dirty="0" err="1"/>
              <a:t>Critérios</a:t>
            </a:r>
            <a:r>
              <a:rPr lang="en-US" sz="2700" dirty="0"/>
              <a:t> para </a:t>
            </a:r>
            <a:r>
              <a:rPr lang="en-US" sz="2700" dirty="0" err="1"/>
              <a:t>eficiência</a:t>
            </a:r>
            <a:endParaRPr lang="pt-BR" sz="2700" dirty="0"/>
          </a:p>
        </p:txBody>
      </p:sp>
      <p:graphicFrame>
        <p:nvGraphicFramePr>
          <p:cNvPr id="3" name="Text Placeholder 2">
            <a:extLst>
              <a:ext uri="{FF2B5EF4-FFF2-40B4-BE49-F238E27FC236}">
                <a16:creationId xmlns:a16="http://schemas.microsoft.com/office/drawing/2014/main" id="{22663D8D-04D2-C957-569E-143C8859B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3072420"/>
              </p:ext>
            </p:extLst>
          </p:nvPr>
        </p:nvGraphicFramePr>
        <p:xfrm>
          <a:off x="6057702" y="877824"/>
          <a:ext cx="5509458" cy="5102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9725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49F0-05ED-93FE-F8D1-113E2A54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</a:t>
            </a:r>
            <a:r>
              <a:rPr lang="en-US" dirty="0" err="1"/>
              <a:t>panorâmico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zoom </a:t>
            </a:r>
            <a:r>
              <a:rPr lang="en-US" dirty="0" err="1"/>
              <a:t>analítico</a:t>
            </a:r>
            <a:endParaRPr lang="pt-B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DDEA5-4D6D-ABB2-C277-78BEA8485670}"/>
              </a:ext>
            </a:extLst>
          </p:cNvPr>
          <p:cNvSpPr txBox="1"/>
          <p:nvPr/>
        </p:nvSpPr>
        <p:spPr>
          <a:xfrm>
            <a:off x="10114722" y="248289"/>
            <a:ext cx="2077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Maximizar  Prevenção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Minimizar  Remediação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Automatizar o processo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0B57D5-84F7-C950-E64A-E7C483FD5565}"/>
              </a:ext>
            </a:extLst>
          </p:cNvPr>
          <p:cNvSpPr txBox="1">
            <a:spLocks/>
          </p:cNvSpPr>
          <p:nvPr/>
        </p:nvSpPr>
        <p:spPr>
          <a:xfrm>
            <a:off x="7113710" y="1391479"/>
            <a:ext cx="5078289" cy="532736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Monitoramento</a:t>
            </a:r>
            <a:r>
              <a:rPr lang="en-US" dirty="0"/>
              <a:t>:</a:t>
            </a:r>
          </a:p>
          <a:p>
            <a:pPr marL="228600" lvl="1" indent="0">
              <a:buNone/>
            </a:pPr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panorâmica</a:t>
            </a: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Análise</a:t>
            </a:r>
            <a:r>
              <a:rPr lang="en-US" dirty="0"/>
              <a:t>: </a:t>
            </a:r>
          </a:p>
          <a:p>
            <a:pPr marL="228600" lvl="1" indent="0">
              <a:buNone/>
            </a:pPr>
            <a:r>
              <a:rPr lang="en-US" dirty="0" err="1"/>
              <a:t>Identificação</a:t>
            </a:r>
            <a:r>
              <a:rPr lang="en-US" dirty="0"/>
              <a:t> de </a:t>
            </a:r>
            <a:r>
              <a:rPr lang="en-US" dirty="0" err="1"/>
              <a:t>ofensores</a:t>
            </a:r>
            <a:endParaRPr lang="en-US" dirty="0"/>
          </a:p>
          <a:p>
            <a:pPr marL="228600" lvl="1" indent="0">
              <a:buNone/>
            </a:pPr>
            <a:r>
              <a:rPr lang="en-US" dirty="0" err="1"/>
              <a:t>Priorização</a:t>
            </a: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Otimização</a:t>
            </a:r>
            <a:r>
              <a:rPr lang="en-US" dirty="0"/>
              <a:t>: </a:t>
            </a:r>
          </a:p>
          <a:p>
            <a:pPr marL="228600" lvl="1" indent="0">
              <a:buNone/>
            </a:pPr>
            <a:r>
              <a:rPr lang="en-US" dirty="0" err="1"/>
              <a:t>Planejamento</a:t>
            </a:r>
            <a:endParaRPr lang="en-US" dirty="0"/>
          </a:p>
          <a:p>
            <a:pPr marL="228600" lvl="1" indent="0">
              <a:buNone/>
            </a:pPr>
            <a:r>
              <a:rPr lang="en-US" dirty="0" err="1"/>
              <a:t>Implementação</a:t>
            </a:r>
            <a:r>
              <a:rPr lang="en-US" dirty="0"/>
              <a:t> das </a:t>
            </a:r>
            <a:r>
              <a:rPr lang="en-US" dirty="0" err="1"/>
              <a:t>ações</a:t>
            </a:r>
            <a:r>
              <a:rPr lang="en-US" dirty="0"/>
              <a:t> de </a:t>
            </a:r>
            <a:r>
              <a:rPr lang="en-US" dirty="0" err="1"/>
              <a:t>reparo</a:t>
            </a: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Entre </a:t>
            </a:r>
            <a:r>
              <a:rPr lang="en-US" b="1" dirty="0" err="1"/>
              <a:t>uma</a:t>
            </a:r>
            <a:r>
              <a:rPr lang="en-US" b="1" dirty="0"/>
              <a:t> e </a:t>
            </a:r>
            <a:r>
              <a:rPr lang="en-US" b="1" dirty="0" err="1"/>
              <a:t>outra</a:t>
            </a:r>
            <a:r>
              <a:rPr lang="en-US" b="1" dirty="0"/>
              <a:t> </a:t>
            </a:r>
            <a:r>
              <a:rPr lang="en-US" b="1" dirty="0" err="1"/>
              <a:t>iteração</a:t>
            </a:r>
            <a:r>
              <a:rPr lang="en-US" dirty="0"/>
              <a:t>:</a:t>
            </a:r>
          </a:p>
          <a:p>
            <a:pPr marL="228600" lvl="1" indent="0">
              <a:buNone/>
            </a:pPr>
            <a:r>
              <a:rPr lang="en-US" dirty="0" err="1"/>
              <a:t>Identificação</a:t>
            </a:r>
            <a:r>
              <a:rPr lang="en-US" dirty="0"/>
              <a:t> e </a:t>
            </a:r>
            <a:r>
              <a:rPr lang="en-US" dirty="0" err="1"/>
              <a:t>adoção</a:t>
            </a:r>
            <a:r>
              <a:rPr lang="en-US" dirty="0"/>
              <a:t> de boas </a:t>
            </a:r>
            <a:r>
              <a:rPr lang="en-US" dirty="0" err="1"/>
              <a:t>práticas</a:t>
            </a:r>
            <a:r>
              <a:rPr lang="en-US" dirty="0"/>
              <a:t>: </a:t>
            </a:r>
          </a:p>
          <a:p>
            <a:pPr lvl="2"/>
            <a:r>
              <a:rPr lang="en-US" dirty="0" err="1"/>
              <a:t>Monitoramento</a:t>
            </a:r>
            <a:endParaRPr lang="en-US" dirty="0"/>
          </a:p>
          <a:p>
            <a:pPr lvl="2"/>
            <a:r>
              <a:rPr lang="en-US" dirty="0" err="1"/>
              <a:t>Análise</a:t>
            </a:r>
            <a:endParaRPr lang="en-US" dirty="0"/>
          </a:p>
          <a:p>
            <a:pPr lvl="2"/>
            <a:r>
              <a:rPr lang="en-US" dirty="0" err="1"/>
              <a:t>Priorização</a:t>
            </a:r>
            <a:endParaRPr lang="en-US" dirty="0"/>
          </a:p>
          <a:p>
            <a:pPr lvl="2"/>
            <a:r>
              <a:rPr lang="en-US" dirty="0" err="1"/>
              <a:t>Ações</a:t>
            </a:r>
            <a:endParaRPr lang="en-US" dirty="0"/>
          </a:p>
          <a:p>
            <a:pPr lvl="2"/>
            <a:r>
              <a:rPr lang="en-US" dirty="0"/>
              <a:t>Skilling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pt-BR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BDDE87-7BFF-D8DD-1DE8-C53474C88B67}"/>
              </a:ext>
            </a:extLst>
          </p:cNvPr>
          <p:cNvGrpSpPr/>
          <p:nvPr/>
        </p:nvGrpSpPr>
        <p:grpSpPr>
          <a:xfrm>
            <a:off x="612648" y="1821706"/>
            <a:ext cx="4299820" cy="4686097"/>
            <a:chOff x="5194692" y="2619375"/>
            <a:chExt cx="1704837" cy="1728978"/>
          </a:xfrm>
        </p:grpSpPr>
        <p:pic>
          <p:nvPicPr>
            <p:cNvPr id="19" name="Picture 2" descr="Image">
              <a:extLst>
                <a:ext uri="{FF2B5EF4-FFF2-40B4-BE49-F238E27FC236}">
                  <a16:creationId xmlns:a16="http://schemas.microsoft.com/office/drawing/2014/main" id="{B6A281BC-A7B2-7CC5-75C2-503EAB239C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0279" y="2619375"/>
              <a:ext cx="1619250" cy="16192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F1EA8A39-8454-5F76-86FB-BACB91624B3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48137" y="3112936"/>
              <a:ext cx="1581972" cy="888861"/>
            </a:xfrm>
            <a:prstGeom prst="bentConnector3">
              <a:avLst>
                <a:gd name="adj1" fmla="val 122340"/>
              </a:avLst>
            </a:prstGeom>
            <a:ln>
              <a:solidFill>
                <a:srgbClr val="57C5A5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3055728-ADBA-94FE-9374-D68291AD785E}"/>
                </a:ext>
              </a:extLst>
            </p:cNvPr>
            <p:cNvCxnSpPr>
              <a:cxnSpLocks/>
            </p:cNvCxnSpPr>
            <p:nvPr/>
          </p:nvCxnSpPr>
          <p:spPr>
            <a:xfrm>
              <a:off x="6067464" y="4117605"/>
              <a:ext cx="0" cy="230002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6C2E28-981B-EB48-716F-33B1F214FE67}"/>
                </a:ext>
              </a:extLst>
            </p:cNvPr>
            <p:cNvCxnSpPr/>
            <p:nvPr/>
          </p:nvCxnSpPr>
          <p:spPr>
            <a:xfrm>
              <a:off x="5194692" y="4347607"/>
              <a:ext cx="872772" cy="0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Graphic 5" descr="Clapper board with solid fill">
            <a:extLst>
              <a:ext uri="{FF2B5EF4-FFF2-40B4-BE49-F238E27FC236}">
                <a16:creationId xmlns:a16="http://schemas.microsoft.com/office/drawing/2014/main" id="{4E4D2939-DDF9-5B03-6AE8-0679331677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8390" y="213546"/>
            <a:ext cx="646332" cy="646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072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D49C9B9-AFF5-7E0B-6AD8-F7EE248F5D8E}"/>
              </a:ext>
            </a:extLst>
          </p:cNvPr>
          <p:cNvSpPr/>
          <p:nvPr/>
        </p:nvSpPr>
        <p:spPr>
          <a:xfrm>
            <a:off x="3048247" y="1417497"/>
            <a:ext cx="8688694" cy="52532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D98D7E-7A99-85DA-C43D-6B6A6E7AA97E}"/>
              </a:ext>
            </a:extLst>
          </p:cNvPr>
          <p:cNvSpPr/>
          <p:nvPr/>
        </p:nvSpPr>
        <p:spPr>
          <a:xfrm>
            <a:off x="649850" y="1417497"/>
            <a:ext cx="2212620" cy="52532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9EAF2-5FC8-F294-93EE-33546C00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Monitoramento</a:t>
            </a:r>
            <a:r>
              <a:rPr lang="en-US" dirty="0"/>
              <a:t> – Microsoft Capacity Metrics App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A5C82-BDAA-8371-4FB2-371788F64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50" y="1417497"/>
            <a:ext cx="2212620" cy="5162207"/>
          </a:xfrm>
        </p:spPr>
        <p:txBody>
          <a:bodyPr/>
          <a:lstStyle/>
          <a:p>
            <a:r>
              <a:rPr lang="pt-BR" dirty="0">
                <a:hlinkClick r:id="rId3"/>
              </a:rPr>
              <a:t>Install</a:t>
            </a:r>
            <a:r>
              <a:rPr lang="pt-BR" dirty="0"/>
              <a:t>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75C582A-8EEC-13D6-57CE-5AA483DC853B}"/>
              </a:ext>
            </a:extLst>
          </p:cNvPr>
          <p:cNvGrpSpPr/>
          <p:nvPr/>
        </p:nvGrpSpPr>
        <p:grpSpPr>
          <a:xfrm>
            <a:off x="11208376" y="289991"/>
            <a:ext cx="844193" cy="1045122"/>
            <a:chOff x="5194692" y="2619375"/>
            <a:chExt cx="1704837" cy="1728978"/>
          </a:xfrm>
        </p:grpSpPr>
        <p:pic>
          <p:nvPicPr>
            <p:cNvPr id="33" name="Picture 2" descr="Image">
              <a:extLst>
                <a:ext uri="{FF2B5EF4-FFF2-40B4-BE49-F238E27FC236}">
                  <a16:creationId xmlns:a16="http://schemas.microsoft.com/office/drawing/2014/main" id="{12FD1C0C-2008-ED83-5A1B-17546719E6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0279" y="2619375"/>
              <a:ext cx="1619250" cy="16192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20C035BF-CA8C-08A8-EAE6-AFE54EFDF6D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48137" y="3112936"/>
              <a:ext cx="1581972" cy="888861"/>
            </a:xfrm>
            <a:prstGeom prst="bentConnector3">
              <a:avLst>
                <a:gd name="adj1" fmla="val 122340"/>
              </a:avLst>
            </a:prstGeom>
            <a:ln>
              <a:solidFill>
                <a:srgbClr val="57C5A5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D02507F-C6FF-8857-E4A1-37FED6326AB0}"/>
                </a:ext>
              </a:extLst>
            </p:cNvPr>
            <p:cNvCxnSpPr>
              <a:cxnSpLocks/>
            </p:cNvCxnSpPr>
            <p:nvPr/>
          </p:nvCxnSpPr>
          <p:spPr>
            <a:xfrm>
              <a:off x="6067464" y="4117605"/>
              <a:ext cx="0" cy="230002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9C1687-4023-F540-B54D-5AA84D66FA15}"/>
                </a:ext>
              </a:extLst>
            </p:cNvPr>
            <p:cNvCxnSpPr/>
            <p:nvPr/>
          </p:nvCxnSpPr>
          <p:spPr>
            <a:xfrm>
              <a:off x="5194692" y="4347607"/>
              <a:ext cx="872772" cy="0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8A2DF250-498B-ADCF-56E5-2B1566DED98F}"/>
              </a:ext>
            </a:extLst>
          </p:cNvPr>
          <p:cNvSpPr/>
          <p:nvPr/>
        </p:nvSpPr>
        <p:spPr>
          <a:xfrm>
            <a:off x="10631340" y="390872"/>
            <a:ext cx="699269" cy="252708"/>
          </a:xfrm>
          <a:prstGeom prst="rightArrow">
            <a:avLst/>
          </a:prstGeom>
          <a:solidFill>
            <a:srgbClr val="53BB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929C5EB-9F96-741D-915C-C8FD230EE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823" y="2053906"/>
            <a:ext cx="1789695" cy="275018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C5FBF7-7870-3A8E-8F8D-67E64B95EAE4}"/>
              </a:ext>
            </a:extLst>
          </p:cNvPr>
          <p:cNvSpPr txBox="1">
            <a:spLocks/>
          </p:cNvSpPr>
          <p:nvPr/>
        </p:nvSpPr>
        <p:spPr>
          <a:xfrm>
            <a:off x="3048247" y="1423973"/>
            <a:ext cx="8600272" cy="5162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hlinkClick r:id="rId7"/>
              </a:rPr>
              <a:t>Capacity Unit</a:t>
            </a:r>
            <a:endParaRPr lang="pt-BR" dirty="0"/>
          </a:p>
          <a:p>
            <a:r>
              <a:rPr lang="pt-BR" dirty="0">
                <a:hlinkClick r:id="rId8"/>
              </a:rPr>
              <a:t>Habilitando o autoscale  de capacity</a:t>
            </a:r>
            <a:endParaRPr lang="pt-BR" dirty="0"/>
          </a:p>
          <a:p>
            <a:r>
              <a:rPr lang="pt-BR" dirty="0">
                <a:hlinkClick r:id="rId9"/>
              </a:rPr>
              <a:t>Métricas de computing</a:t>
            </a:r>
            <a:endParaRPr lang="pt-BR" dirty="0"/>
          </a:p>
          <a:p>
            <a:r>
              <a:rPr lang="pt-BR" dirty="0">
                <a:hlinkClick r:id="rId10"/>
              </a:rPr>
              <a:t>Detalhar conjuntos de dados e consultas específicas para identificar gargalos de desempenho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1028" name="Picture 4" descr="Animation that shows cross-filtered data in the multi metric ribbon chart.">
            <a:extLst>
              <a:ext uri="{FF2B5EF4-FFF2-40B4-BE49-F238E27FC236}">
                <a16:creationId xmlns:a16="http://schemas.microsoft.com/office/drawing/2014/main" id="{7D6B9951-FA10-1050-CCAA-DFA4A951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875" y="3821606"/>
            <a:ext cx="8373066" cy="225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04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03C6-E481-5F07-93A5-71DA7C7C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Análise</a:t>
            </a:r>
            <a:r>
              <a:rPr lang="en-US" dirty="0"/>
              <a:t>: </a:t>
            </a:r>
            <a:r>
              <a:rPr lang="en-US" dirty="0" err="1"/>
              <a:t>Investigar</a:t>
            </a:r>
            <a:r>
              <a:rPr lang="en-US" dirty="0"/>
              <a:t> </a:t>
            </a:r>
            <a:r>
              <a:rPr lang="en-US" dirty="0" err="1"/>
              <a:t>relatórios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endParaRPr lang="pt-BR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18AD0C-E859-FE5D-E5F9-7E950D9DE127}"/>
              </a:ext>
            </a:extLst>
          </p:cNvPr>
          <p:cNvGrpSpPr/>
          <p:nvPr/>
        </p:nvGrpSpPr>
        <p:grpSpPr>
          <a:xfrm>
            <a:off x="11208376" y="289991"/>
            <a:ext cx="844193" cy="1045122"/>
            <a:chOff x="5194692" y="2619375"/>
            <a:chExt cx="1704837" cy="1728978"/>
          </a:xfrm>
        </p:grpSpPr>
        <p:pic>
          <p:nvPicPr>
            <p:cNvPr id="5" name="Picture 2" descr="Image">
              <a:extLst>
                <a:ext uri="{FF2B5EF4-FFF2-40B4-BE49-F238E27FC236}">
                  <a16:creationId xmlns:a16="http://schemas.microsoft.com/office/drawing/2014/main" id="{16F2B184-4284-5BF9-7B59-A9F912154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0279" y="2619375"/>
              <a:ext cx="1619250" cy="16192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690BFF3B-BAF1-0591-98B0-34B26F07C84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48137" y="3112936"/>
              <a:ext cx="1581972" cy="888861"/>
            </a:xfrm>
            <a:prstGeom prst="bentConnector3">
              <a:avLst>
                <a:gd name="adj1" fmla="val 122340"/>
              </a:avLst>
            </a:prstGeom>
            <a:ln>
              <a:solidFill>
                <a:srgbClr val="57C5A5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9C2042B-910E-5CAC-C140-6F432074DAFE}"/>
                </a:ext>
              </a:extLst>
            </p:cNvPr>
            <p:cNvCxnSpPr>
              <a:cxnSpLocks/>
            </p:cNvCxnSpPr>
            <p:nvPr/>
          </p:nvCxnSpPr>
          <p:spPr>
            <a:xfrm>
              <a:off x="6067464" y="4117605"/>
              <a:ext cx="0" cy="230002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7AFA59C-AAD6-E928-ABE9-784486389676}"/>
                </a:ext>
              </a:extLst>
            </p:cNvPr>
            <p:cNvCxnSpPr/>
            <p:nvPr/>
          </p:nvCxnSpPr>
          <p:spPr>
            <a:xfrm>
              <a:off x="5194692" y="4347607"/>
              <a:ext cx="872772" cy="0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9A77C2F0-F8E4-1A10-6C24-12FC6C7400F8}"/>
              </a:ext>
            </a:extLst>
          </p:cNvPr>
          <p:cNvSpPr/>
          <p:nvPr/>
        </p:nvSpPr>
        <p:spPr>
          <a:xfrm>
            <a:off x="10631340" y="679108"/>
            <a:ext cx="699269" cy="252708"/>
          </a:xfrm>
          <a:prstGeom prst="rightArrow">
            <a:avLst/>
          </a:prstGeom>
          <a:solidFill>
            <a:srgbClr val="3FBEB0"/>
          </a:solidFill>
          <a:ln>
            <a:solidFill>
              <a:srgbClr val="57C5A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C2D00372-F3A5-40D3-4B4A-FB488DBAA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978" y="1287171"/>
            <a:ext cx="5443228" cy="3628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D5B968-FC26-9F43-57EE-995FD421229F}"/>
              </a:ext>
            </a:extLst>
          </p:cNvPr>
          <p:cNvCxnSpPr>
            <a:cxnSpLocks/>
          </p:cNvCxnSpPr>
          <p:nvPr/>
        </p:nvCxnSpPr>
        <p:spPr>
          <a:xfrm>
            <a:off x="1267980" y="5641091"/>
            <a:ext cx="46193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30E0C340-2AE0-940A-7F83-3BE490846560}"/>
              </a:ext>
            </a:extLst>
          </p:cNvPr>
          <p:cNvSpPr/>
          <p:nvPr/>
        </p:nvSpPr>
        <p:spPr>
          <a:xfrm>
            <a:off x="1629095" y="5566756"/>
            <a:ext cx="185738" cy="171450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F758CD-3307-AF8C-B653-1244E93C1731}"/>
              </a:ext>
            </a:extLst>
          </p:cNvPr>
          <p:cNvSpPr txBox="1"/>
          <p:nvPr/>
        </p:nvSpPr>
        <p:spPr>
          <a:xfrm>
            <a:off x="1854835" y="4915990"/>
            <a:ext cx="54432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pt-BR" sz="1600" dirty="0"/>
              <a:t>Conexão com fontes de dados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pt-BR" sz="1600" dirty="0"/>
              <a:t>Limpeza e transformação (remover colunas, filtrar, unir tabelas, etc.)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pt-BR" sz="1600" dirty="0"/>
              <a:t>Criação de colunas calculadas simples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pt-BR" sz="1600" dirty="0"/>
              <a:t>Aplicação de regras de negócio básicas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pt-BR" sz="1600" dirty="0"/>
              <a:t>Ex: Remover linhas duplicadas, unir dados de várias planilhas, filtrar apenas os últimos 12 meses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E767C8-393C-C930-79A9-A16E3A5D5948}"/>
              </a:ext>
            </a:extLst>
          </p:cNvPr>
          <p:cNvCxnSpPr>
            <a:cxnSpLocks/>
          </p:cNvCxnSpPr>
          <p:nvPr/>
        </p:nvCxnSpPr>
        <p:spPr>
          <a:xfrm>
            <a:off x="5198320" y="4251870"/>
            <a:ext cx="190831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6862785D-8821-78DB-5267-0D2607162A3E}"/>
              </a:ext>
            </a:extLst>
          </p:cNvPr>
          <p:cNvSpPr/>
          <p:nvPr/>
        </p:nvSpPr>
        <p:spPr>
          <a:xfrm>
            <a:off x="7013761" y="4170575"/>
            <a:ext cx="185738" cy="171450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FF3523-E9BA-C48A-B1A5-D4EAB1E0A754}"/>
              </a:ext>
            </a:extLst>
          </p:cNvPr>
          <p:cNvSpPr txBox="1"/>
          <p:nvPr/>
        </p:nvSpPr>
        <p:spPr>
          <a:xfrm>
            <a:off x="7465242" y="4015704"/>
            <a:ext cx="47267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fontAlgn="ctr">
              <a:buFont typeface="Arial" panose="020B0604020202020204" pitchFamily="34" charset="0"/>
              <a:buChar char="•"/>
              <a:defRPr/>
            </a:lvl1pPr>
          </a:lstStyle>
          <a:p>
            <a:r>
              <a:rPr lang="pt-BR" sz="1600" dirty="0"/>
              <a:t>Criar relações entre tabelas</a:t>
            </a:r>
          </a:p>
          <a:p>
            <a:r>
              <a:rPr lang="pt-BR" sz="1600" dirty="0"/>
              <a:t>Definir medidas e KPIs</a:t>
            </a:r>
          </a:p>
          <a:p>
            <a:r>
              <a:rPr lang="pt-BR" sz="1600" dirty="0"/>
              <a:t>Construir lógica analítica avançada</a:t>
            </a:r>
          </a:p>
          <a:p>
            <a:r>
              <a:rPr lang="pt-BR" sz="1600" dirty="0"/>
              <a:t>Controlar o comportamento dos visuais</a:t>
            </a:r>
          </a:p>
          <a:p>
            <a:r>
              <a:rPr lang="pt-BR" sz="1600" dirty="0"/>
              <a:t>Ex: Criar uma medida de crescimento percentual mês a mês. Calcular total acumulado por categoria. Aplicar filtros dinâmicos com </a:t>
            </a:r>
            <a:r>
              <a:rPr lang="en-US" sz="1600" dirty="0"/>
              <a:t>CALCULATE</a:t>
            </a:r>
            <a:r>
              <a:rPr lang="pt-BR" sz="1600" dirty="0"/>
              <a:t>, </a:t>
            </a:r>
            <a:r>
              <a:rPr lang="en-US" sz="1600" dirty="0"/>
              <a:t>FILTER</a:t>
            </a:r>
            <a:r>
              <a:rPr lang="pt-BR" sz="1600" dirty="0"/>
              <a:t>, </a:t>
            </a:r>
            <a:r>
              <a:rPr lang="en-US" sz="1600" dirty="0"/>
              <a:t>ALL</a:t>
            </a:r>
            <a:endParaRPr lang="pt-BR" sz="1600" dirty="0"/>
          </a:p>
          <a:p>
            <a:endParaRPr lang="pt-BR" sz="16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43DCF05-B8AB-6819-D3DB-DEA6B5E1AC01}"/>
              </a:ext>
            </a:extLst>
          </p:cNvPr>
          <p:cNvCxnSpPr>
            <a:cxnSpLocks/>
          </p:cNvCxnSpPr>
          <p:nvPr/>
        </p:nvCxnSpPr>
        <p:spPr>
          <a:xfrm>
            <a:off x="1267967" y="4598974"/>
            <a:ext cx="0" cy="10405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50298F4-932F-C1A9-8966-3353E899C028}"/>
              </a:ext>
            </a:extLst>
          </p:cNvPr>
          <p:cNvCxnSpPr>
            <a:cxnSpLocks/>
          </p:cNvCxnSpPr>
          <p:nvPr/>
        </p:nvCxnSpPr>
        <p:spPr>
          <a:xfrm flipV="1">
            <a:off x="3829050" y="1691466"/>
            <a:ext cx="1864540" cy="443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430053FE-277F-833F-0300-31EFC8F675EE}"/>
              </a:ext>
            </a:extLst>
          </p:cNvPr>
          <p:cNvSpPr/>
          <p:nvPr/>
        </p:nvSpPr>
        <p:spPr>
          <a:xfrm>
            <a:off x="5600721" y="1610171"/>
            <a:ext cx="185738" cy="171450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87EF97-7753-19F7-4012-B385D2EE10D7}"/>
              </a:ext>
            </a:extLst>
          </p:cNvPr>
          <p:cNvSpPr txBox="1"/>
          <p:nvPr/>
        </p:nvSpPr>
        <p:spPr>
          <a:xfrm>
            <a:off x="6089904" y="1331077"/>
            <a:ext cx="595492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fontAlgn="ctr">
              <a:buFont typeface="Arial" panose="020B0604020202020204" pitchFamily="34" charset="0"/>
              <a:buChar char="•"/>
              <a:defRPr/>
            </a:lvl1pPr>
          </a:lstStyle>
          <a:p>
            <a:r>
              <a:rPr lang="pt-BR" sz="1600" dirty="0"/>
              <a:t>Interface com usuário</a:t>
            </a:r>
          </a:p>
          <a:p>
            <a:r>
              <a:rPr lang="pt-BR" sz="1600" dirty="0"/>
              <a:t>Comunicar insights de forma clara e visual, traduzindo números e medidas em gráficos, tabelas e KPIs compreensíveis</a:t>
            </a:r>
          </a:p>
          <a:p>
            <a:r>
              <a:rPr lang="pt-BR" sz="1600" dirty="0"/>
              <a:t>Permitir interação com os dados, através de filtros, slicers, drill-downs, bookmarks, tooltips</a:t>
            </a:r>
          </a:p>
          <a:p>
            <a:r>
              <a:rPr lang="pt-BR" sz="1600" dirty="0"/>
              <a:t>Facilitar a tomada de decisão, destacando tendências, comparações, exceções e metas</a:t>
            </a:r>
          </a:p>
          <a:p>
            <a:r>
              <a:rPr lang="pt-BR" sz="1600" dirty="0"/>
              <a:t>Personalizar a experiência do usuário com Visuais adaptados ao público (executivo, operacional, técnico)</a:t>
            </a:r>
          </a:p>
          <a:p>
            <a:r>
              <a:rPr lang="pt-BR" sz="1600" dirty="0"/>
              <a:t>Ex: Mapas, KPIs, Gráficos.</a:t>
            </a:r>
          </a:p>
          <a:p>
            <a:endParaRPr lang="pt-BR" sz="16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8625424-5314-84E4-F8FD-8EA6F0270CA4}"/>
              </a:ext>
            </a:extLst>
          </p:cNvPr>
          <p:cNvCxnSpPr>
            <a:cxnSpLocks/>
          </p:cNvCxnSpPr>
          <p:nvPr/>
        </p:nvCxnSpPr>
        <p:spPr>
          <a:xfrm>
            <a:off x="5198320" y="2404371"/>
            <a:ext cx="0" cy="184749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80EA841-C50D-3A92-5053-CA4830F848F5}"/>
              </a:ext>
            </a:extLst>
          </p:cNvPr>
          <p:cNvCxnSpPr>
            <a:cxnSpLocks/>
          </p:cNvCxnSpPr>
          <p:nvPr/>
        </p:nvCxnSpPr>
        <p:spPr>
          <a:xfrm flipV="1">
            <a:off x="4643968" y="2404464"/>
            <a:ext cx="552764" cy="443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A9370D2-F84A-DC77-38FA-FB6A2DA5BEDA}"/>
              </a:ext>
            </a:extLst>
          </p:cNvPr>
          <p:cNvCxnSpPr>
            <a:cxnSpLocks/>
          </p:cNvCxnSpPr>
          <p:nvPr/>
        </p:nvCxnSpPr>
        <p:spPr>
          <a:xfrm>
            <a:off x="1272729" y="4591919"/>
            <a:ext cx="91167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56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5" grpId="0"/>
      <p:bldP spid="29" grpId="0" animBg="1"/>
      <p:bldP spid="31" grpId="0"/>
      <p:bldP spid="47" grpId="0" animBg="1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EDFB6-95CC-FB0E-17D1-070E5F0C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BBF1DAE-719E-83A3-5AF2-342680C75E43}"/>
              </a:ext>
            </a:extLst>
          </p:cNvPr>
          <p:cNvSpPr txBox="1"/>
          <p:nvPr/>
        </p:nvSpPr>
        <p:spPr>
          <a:xfrm>
            <a:off x="6447901" y="1287171"/>
            <a:ext cx="574409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fontAlgn="ctr">
              <a:buFont typeface="Arial" panose="020B0604020202020204" pitchFamily="34" charset="0"/>
              <a:buChar char="•"/>
              <a:defRPr/>
            </a:lvl1pPr>
          </a:lstStyle>
          <a:p>
            <a:pPr marL="0" indent="0">
              <a:buNone/>
            </a:pPr>
            <a:r>
              <a:rPr lang="en-US" sz="2000" b="1" dirty="0"/>
              <a:t>Performance Analyzer</a:t>
            </a:r>
          </a:p>
          <a:p>
            <a:r>
              <a:rPr lang="pt-BR" sz="1400" b="1" dirty="0"/>
              <a:t>Oque é: </a:t>
            </a:r>
            <a:r>
              <a:rPr lang="pt-BR" sz="1400" dirty="0"/>
              <a:t>Análise de desempenho dos componentes visuais e consultas DAX. Integrada ao Power BI Desktop.</a:t>
            </a:r>
          </a:p>
          <a:p>
            <a:r>
              <a:rPr lang="pt-BR" sz="1400" b="1" dirty="0"/>
              <a:t>Objetivo:</a:t>
            </a:r>
            <a:r>
              <a:rPr lang="pt-BR" sz="1400" dirty="0"/>
              <a:t> Identificar quais elementos visuais ou consultas estão impactando o desempenho do relatório.</a:t>
            </a:r>
          </a:p>
          <a:p>
            <a:r>
              <a:rPr lang="pt-BR" sz="1400" b="1" dirty="0"/>
              <a:t>O que analisa:</a:t>
            </a:r>
            <a:r>
              <a:rPr lang="pt-BR" sz="1400" dirty="0"/>
              <a:t> Tempo de renderização de visuais, tempo de execução de consultas DAX, tempo de outros processos internos.</a:t>
            </a:r>
          </a:p>
          <a:p>
            <a:r>
              <a:rPr lang="pt-BR" sz="1400" b="1" dirty="0"/>
              <a:t>Saída:</a:t>
            </a:r>
            <a:r>
              <a:rPr lang="pt-BR" sz="1400" dirty="0"/>
              <a:t> Logs que mostram o tempo de cada elemento, com opção de exportar a consulta DAX para análise posterior.</a:t>
            </a:r>
          </a:p>
          <a:p>
            <a:pPr marL="0" indent="0">
              <a:buNone/>
            </a:pPr>
            <a:endParaRPr lang="pt-BR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99A6A-B367-EBD4-64E6-3D452794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Análise</a:t>
            </a:r>
            <a:r>
              <a:rPr lang="en-US" dirty="0"/>
              <a:t>: </a:t>
            </a:r>
            <a:r>
              <a:rPr lang="en-US" dirty="0" err="1"/>
              <a:t>Investigar</a:t>
            </a:r>
            <a:r>
              <a:rPr lang="en-US" dirty="0"/>
              <a:t> </a:t>
            </a:r>
            <a:r>
              <a:rPr lang="en-US" dirty="0" err="1"/>
              <a:t>relatórios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endParaRPr lang="pt-BR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43D911-A760-F72E-B36D-7050BF303F0C}"/>
              </a:ext>
            </a:extLst>
          </p:cNvPr>
          <p:cNvGrpSpPr/>
          <p:nvPr/>
        </p:nvGrpSpPr>
        <p:grpSpPr>
          <a:xfrm>
            <a:off x="11208376" y="289991"/>
            <a:ext cx="844193" cy="1045122"/>
            <a:chOff x="5194692" y="2619375"/>
            <a:chExt cx="1704837" cy="1728978"/>
          </a:xfrm>
        </p:grpSpPr>
        <p:pic>
          <p:nvPicPr>
            <p:cNvPr id="5" name="Picture 2" descr="Image">
              <a:extLst>
                <a:ext uri="{FF2B5EF4-FFF2-40B4-BE49-F238E27FC236}">
                  <a16:creationId xmlns:a16="http://schemas.microsoft.com/office/drawing/2014/main" id="{734B73F1-8620-C146-C1F6-C8DADFD558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0279" y="2619375"/>
              <a:ext cx="1619250" cy="16192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98385218-0682-4388-57B5-B7EB7E29751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48137" y="3112936"/>
              <a:ext cx="1581972" cy="888861"/>
            </a:xfrm>
            <a:prstGeom prst="bentConnector3">
              <a:avLst>
                <a:gd name="adj1" fmla="val 122340"/>
              </a:avLst>
            </a:prstGeom>
            <a:ln>
              <a:solidFill>
                <a:srgbClr val="57C5A5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09A10FC-59BB-5FA2-BF1E-4C9DBADCC295}"/>
                </a:ext>
              </a:extLst>
            </p:cNvPr>
            <p:cNvCxnSpPr>
              <a:cxnSpLocks/>
            </p:cNvCxnSpPr>
            <p:nvPr/>
          </p:nvCxnSpPr>
          <p:spPr>
            <a:xfrm>
              <a:off x="6067464" y="4117605"/>
              <a:ext cx="0" cy="230002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AB22A0E-A33F-B57D-674E-4FE676E7DFE9}"/>
                </a:ext>
              </a:extLst>
            </p:cNvPr>
            <p:cNvCxnSpPr/>
            <p:nvPr/>
          </p:nvCxnSpPr>
          <p:spPr>
            <a:xfrm>
              <a:off x="5194692" y="4347607"/>
              <a:ext cx="872772" cy="0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C69067A2-93AA-D637-A171-386A5801CFDC}"/>
              </a:ext>
            </a:extLst>
          </p:cNvPr>
          <p:cNvSpPr/>
          <p:nvPr/>
        </p:nvSpPr>
        <p:spPr>
          <a:xfrm>
            <a:off x="10631340" y="679108"/>
            <a:ext cx="699269" cy="252708"/>
          </a:xfrm>
          <a:prstGeom prst="rightArrow">
            <a:avLst/>
          </a:prstGeom>
          <a:solidFill>
            <a:srgbClr val="3FBEB0"/>
          </a:solidFill>
          <a:ln>
            <a:solidFill>
              <a:srgbClr val="57C5A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348A6F42-0E8C-5865-D44F-660CA09F7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978" y="1287171"/>
            <a:ext cx="5443228" cy="3628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D12B20B-F629-DC25-EEE2-7912C4A2F522}"/>
              </a:ext>
            </a:extLst>
          </p:cNvPr>
          <p:cNvCxnSpPr>
            <a:cxnSpLocks/>
          </p:cNvCxnSpPr>
          <p:nvPr/>
        </p:nvCxnSpPr>
        <p:spPr>
          <a:xfrm>
            <a:off x="4092837" y="4499444"/>
            <a:ext cx="204784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FAA70AB8-2631-2A84-B2E9-CB5C840B4231}"/>
              </a:ext>
            </a:extLst>
          </p:cNvPr>
          <p:cNvSpPr/>
          <p:nvPr/>
        </p:nvSpPr>
        <p:spPr>
          <a:xfrm>
            <a:off x="6047815" y="4425109"/>
            <a:ext cx="185738" cy="171450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8140BC-241A-0048-7986-8029B5CC54A7}"/>
              </a:ext>
            </a:extLst>
          </p:cNvPr>
          <p:cNvCxnSpPr>
            <a:cxnSpLocks/>
          </p:cNvCxnSpPr>
          <p:nvPr/>
        </p:nvCxnSpPr>
        <p:spPr>
          <a:xfrm>
            <a:off x="4092837" y="3904851"/>
            <a:ext cx="0" cy="59459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B7B3AE3-FBC5-4A59-734F-D802A78A1FA0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3829050" y="1691466"/>
            <a:ext cx="2230556" cy="443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0485222D-9CC1-8312-EE9B-4257B338A0C5}"/>
              </a:ext>
            </a:extLst>
          </p:cNvPr>
          <p:cNvSpPr/>
          <p:nvPr/>
        </p:nvSpPr>
        <p:spPr>
          <a:xfrm>
            <a:off x="6059606" y="1605741"/>
            <a:ext cx="185738" cy="171450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A0DEC12-9110-6FD1-09DD-846DB2A075C3}"/>
              </a:ext>
            </a:extLst>
          </p:cNvPr>
          <p:cNvCxnSpPr>
            <a:cxnSpLocks/>
          </p:cNvCxnSpPr>
          <p:nvPr/>
        </p:nvCxnSpPr>
        <p:spPr>
          <a:xfrm flipH="1">
            <a:off x="5184032" y="1696677"/>
            <a:ext cx="14288" cy="72048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A5E8415-7252-6B48-856B-41813A5003AA}"/>
              </a:ext>
            </a:extLst>
          </p:cNvPr>
          <p:cNvCxnSpPr>
            <a:cxnSpLocks/>
          </p:cNvCxnSpPr>
          <p:nvPr/>
        </p:nvCxnSpPr>
        <p:spPr>
          <a:xfrm flipV="1">
            <a:off x="4631268" y="2417164"/>
            <a:ext cx="552764" cy="443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11C609B-5477-9A94-BD74-3E3186860BE8}"/>
              </a:ext>
            </a:extLst>
          </p:cNvPr>
          <p:cNvSpPr txBox="1"/>
          <p:nvPr/>
        </p:nvSpPr>
        <p:spPr>
          <a:xfrm>
            <a:off x="6517617" y="4023165"/>
            <a:ext cx="560466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285750" indent="-285750" fontAlgn="ctr">
              <a:buFont typeface="Arial" panose="020B0604020202020204" pitchFamily="34" charset="0"/>
              <a:buChar char="•"/>
              <a:defRPr/>
            </a:lvl1pPr>
          </a:lstStyle>
          <a:p>
            <a:pPr marL="0" indent="0">
              <a:buNone/>
            </a:pPr>
            <a:r>
              <a:rPr lang="en-US" sz="2000" b="1" dirty="0"/>
              <a:t>Query Diagnostics</a:t>
            </a:r>
          </a:p>
          <a:p>
            <a:r>
              <a:rPr lang="pt-BR" sz="1400" b="1" dirty="0"/>
              <a:t>Oque é: </a:t>
            </a:r>
            <a:r>
              <a:rPr lang="pt-BR" sz="1400" dirty="0"/>
              <a:t>Análise do comportamento das consultas no Power Query Editor.</a:t>
            </a:r>
          </a:p>
          <a:p>
            <a:r>
              <a:rPr lang="pt-BR" sz="1400" b="1" dirty="0"/>
              <a:t>Objetivo:</a:t>
            </a:r>
            <a:r>
              <a:rPr lang="pt-BR" sz="1400" dirty="0"/>
              <a:t> Diagnosticar o que está acontecendo nos bastidores quando você carrega ou transforma dados.</a:t>
            </a:r>
          </a:p>
          <a:p>
            <a:r>
              <a:rPr lang="pt-BR" sz="1400" b="1" dirty="0"/>
              <a:t>O que analisa:</a:t>
            </a:r>
            <a:r>
              <a:rPr lang="pt-BR" sz="1400" dirty="0"/>
              <a:t> Avaliações de etapas de transformação, tempo de execução por etapa, eventos de sistema, número de linhas processadas, tipo de fonte de dados.</a:t>
            </a:r>
          </a:p>
          <a:p>
            <a:r>
              <a:rPr lang="pt-BR" sz="1400" b="1" dirty="0"/>
              <a:t>Saída:</a:t>
            </a:r>
            <a:r>
              <a:rPr lang="pt-BR" sz="1400" dirty="0"/>
              <a:t> Logs que mostram o tempo de cada passo, número de linhas envolvidas, tipo de categoria.</a:t>
            </a:r>
          </a:p>
          <a:p>
            <a:pPr marL="0" indent="0">
              <a:buNone/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09946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 animBg="1"/>
      <p:bldP spid="47" grpId="0" animBg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4DEF9-A6B5-DFAB-7847-6517FC818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EF35-B2E9-51A1-C240-364C0908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Análise</a:t>
            </a:r>
            <a:r>
              <a:rPr lang="en-US" dirty="0"/>
              <a:t>: </a:t>
            </a:r>
            <a:r>
              <a:rPr lang="en-US" dirty="0" err="1"/>
              <a:t>Investigar</a:t>
            </a:r>
            <a:r>
              <a:rPr lang="en-US" dirty="0"/>
              <a:t> </a:t>
            </a:r>
            <a:r>
              <a:rPr lang="en-US" dirty="0" err="1"/>
              <a:t>relatórios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endParaRPr lang="pt-BR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32FAD3-FC35-54F2-FD11-567C8789E060}"/>
              </a:ext>
            </a:extLst>
          </p:cNvPr>
          <p:cNvGrpSpPr/>
          <p:nvPr/>
        </p:nvGrpSpPr>
        <p:grpSpPr>
          <a:xfrm>
            <a:off x="11208376" y="289991"/>
            <a:ext cx="844193" cy="1045122"/>
            <a:chOff x="5194692" y="2619375"/>
            <a:chExt cx="1704837" cy="1728978"/>
          </a:xfrm>
        </p:grpSpPr>
        <p:pic>
          <p:nvPicPr>
            <p:cNvPr id="5" name="Picture 2" descr="Image">
              <a:extLst>
                <a:ext uri="{FF2B5EF4-FFF2-40B4-BE49-F238E27FC236}">
                  <a16:creationId xmlns:a16="http://schemas.microsoft.com/office/drawing/2014/main" id="{B7242C76-4794-D072-7645-B2CA8668E8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0279" y="2619375"/>
              <a:ext cx="1619250" cy="16192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17E9DFEF-662C-FFA7-E9F3-259B4C302EB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48137" y="3112936"/>
              <a:ext cx="1581972" cy="888861"/>
            </a:xfrm>
            <a:prstGeom prst="bentConnector3">
              <a:avLst>
                <a:gd name="adj1" fmla="val 122340"/>
              </a:avLst>
            </a:prstGeom>
            <a:ln>
              <a:solidFill>
                <a:srgbClr val="57C5A5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3057576-A3A9-0CC6-A119-FDB03E571668}"/>
                </a:ext>
              </a:extLst>
            </p:cNvPr>
            <p:cNvCxnSpPr>
              <a:cxnSpLocks/>
            </p:cNvCxnSpPr>
            <p:nvPr/>
          </p:nvCxnSpPr>
          <p:spPr>
            <a:xfrm>
              <a:off x="6067464" y="4117605"/>
              <a:ext cx="0" cy="230002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A1DDDD-3320-5CEF-EFF6-632391A29C73}"/>
                </a:ext>
              </a:extLst>
            </p:cNvPr>
            <p:cNvCxnSpPr/>
            <p:nvPr/>
          </p:nvCxnSpPr>
          <p:spPr>
            <a:xfrm>
              <a:off x="5194692" y="4347607"/>
              <a:ext cx="872772" cy="0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15DA4C0B-AA92-D156-0AC3-D2A46AADCE1F}"/>
              </a:ext>
            </a:extLst>
          </p:cNvPr>
          <p:cNvSpPr/>
          <p:nvPr/>
        </p:nvSpPr>
        <p:spPr>
          <a:xfrm>
            <a:off x="10631340" y="679108"/>
            <a:ext cx="699269" cy="252708"/>
          </a:xfrm>
          <a:prstGeom prst="rightArrow">
            <a:avLst/>
          </a:prstGeom>
          <a:solidFill>
            <a:srgbClr val="3FBEB0"/>
          </a:solidFill>
          <a:ln>
            <a:solidFill>
              <a:srgbClr val="57C5A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6564FE-A865-D76A-D230-338F91310B1F}"/>
              </a:ext>
            </a:extLst>
          </p:cNvPr>
          <p:cNvSpPr/>
          <p:nvPr/>
        </p:nvSpPr>
        <p:spPr>
          <a:xfrm>
            <a:off x="649850" y="1417497"/>
            <a:ext cx="3315863" cy="2379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7C3A44-0815-C2F8-E96A-5F8F47B80FA6}"/>
              </a:ext>
            </a:extLst>
          </p:cNvPr>
          <p:cNvSpPr txBox="1">
            <a:spLocks/>
          </p:cNvSpPr>
          <p:nvPr/>
        </p:nvSpPr>
        <p:spPr>
          <a:xfrm>
            <a:off x="649850" y="1434815"/>
            <a:ext cx="3315863" cy="2252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hlinkClick r:id="rId5"/>
              </a:rPr>
              <a:t>Query diagnostics</a:t>
            </a:r>
            <a:r>
              <a:rPr lang="pt-BR" dirty="0"/>
              <a:t> </a:t>
            </a:r>
          </a:p>
          <a:p>
            <a:pPr marL="0" indent="0" algn="ctr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61B0B-9504-1DE6-2874-FD693B47CB80}"/>
              </a:ext>
            </a:extLst>
          </p:cNvPr>
          <p:cNvSpPr/>
          <p:nvPr/>
        </p:nvSpPr>
        <p:spPr>
          <a:xfrm>
            <a:off x="649850" y="4094546"/>
            <a:ext cx="3315863" cy="23792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7BF6EF-76B9-DEC9-8138-C505A6154B18}"/>
              </a:ext>
            </a:extLst>
          </p:cNvPr>
          <p:cNvSpPr txBox="1">
            <a:spLocks/>
          </p:cNvSpPr>
          <p:nvPr/>
        </p:nvSpPr>
        <p:spPr>
          <a:xfrm>
            <a:off x="649850" y="4080318"/>
            <a:ext cx="3315863" cy="2170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US" dirty="0" err="1">
                <a:hlinkClick r:id="rId6"/>
              </a:rPr>
              <a:t>Exportar</a:t>
            </a:r>
            <a:r>
              <a:rPr lang="en-US" dirty="0">
                <a:hlinkClick r:id="rId6"/>
              </a:rPr>
              <a:t> </a:t>
            </a:r>
            <a:r>
              <a:rPr lang="en-US" dirty="0" err="1">
                <a:hlinkClick r:id="rId6"/>
              </a:rPr>
              <a:t>os</a:t>
            </a:r>
            <a:r>
              <a:rPr lang="en-US" dirty="0">
                <a:hlinkClick r:id="rId6"/>
              </a:rPr>
              <a:t> </a:t>
            </a:r>
            <a:r>
              <a:rPr lang="en-US" dirty="0" err="1">
                <a:hlinkClick r:id="rId6"/>
              </a:rPr>
              <a:t>arquivos</a:t>
            </a:r>
            <a:r>
              <a:rPr lang="en-US" dirty="0">
                <a:hlinkClick r:id="rId6"/>
              </a:rPr>
              <a:t> de DAX do Analyzer para o DAX studio 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4294EB-8968-C2A1-2586-21FD00D6E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4656" y="4867712"/>
            <a:ext cx="1132311" cy="12386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6BBABA4-21D1-0E3D-362A-F2AFA4D300E3}"/>
              </a:ext>
            </a:extLst>
          </p:cNvPr>
          <p:cNvSpPr/>
          <p:nvPr/>
        </p:nvSpPr>
        <p:spPr>
          <a:xfrm>
            <a:off x="4213837" y="4087960"/>
            <a:ext cx="3315863" cy="23792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8DEC6A-AB77-7716-48C3-BB7C8E610AA0}"/>
              </a:ext>
            </a:extLst>
          </p:cNvPr>
          <p:cNvSpPr txBox="1">
            <a:spLocks/>
          </p:cNvSpPr>
          <p:nvPr/>
        </p:nvSpPr>
        <p:spPr>
          <a:xfrm>
            <a:off x="4213837" y="4087962"/>
            <a:ext cx="3315863" cy="2170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US" dirty="0" err="1">
                <a:hlinkClick r:id="rId8"/>
              </a:rPr>
              <a:t>Monitorar</a:t>
            </a:r>
            <a:r>
              <a:rPr lang="en-US" dirty="0">
                <a:hlinkClick r:id="rId8"/>
              </a:rPr>
              <a:t> </a:t>
            </a:r>
            <a:r>
              <a:rPr lang="en-US" dirty="0" err="1">
                <a:hlinkClick r:id="rId8"/>
              </a:rPr>
              <a:t>métricas</a:t>
            </a:r>
            <a:r>
              <a:rPr lang="en-US" dirty="0">
                <a:hlinkClick r:id="rId8"/>
              </a:rPr>
              <a:t> de </a:t>
            </a:r>
            <a:r>
              <a:rPr lang="en-US" dirty="0" err="1">
                <a:hlinkClick r:id="rId8"/>
              </a:rPr>
              <a:t>uso</a:t>
            </a:r>
            <a:r>
              <a:rPr lang="en-US" dirty="0">
                <a:hlinkClick r:id="rId8"/>
              </a:rPr>
              <a:t> de </a:t>
            </a:r>
            <a:r>
              <a:rPr lang="en-US" dirty="0" err="1">
                <a:hlinkClick r:id="rId8"/>
              </a:rPr>
              <a:t>relatórios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2060" name="Picture 12" descr="Screenshot showing usage metrics report.">
            <a:extLst>
              <a:ext uri="{FF2B5EF4-FFF2-40B4-BE49-F238E27FC236}">
                <a16:creationId xmlns:a16="http://schemas.microsoft.com/office/drawing/2014/main" id="{2D9F5423-C563-BA39-C5D1-F79F61822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150" y="4867712"/>
            <a:ext cx="2411127" cy="137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105E670-267D-BABA-2A7C-C57D4A5E5352}"/>
              </a:ext>
            </a:extLst>
          </p:cNvPr>
          <p:cNvSpPr/>
          <p:nvPr/>
        </p:nvSpPr>
        <p:spPr>
          <a:xfrm>
            <a:off x="7785715" y="4080318"/>
            <a:ext cx="3315863" cy="23934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A80B10A-0707-87A1-F74F-832C5373ECD1}"/>
              </a:ext>
            </a:extLst>
          </p:cNvPr>
          <p:cNvSpPr txBox="1">
            <a:spLocks/>
          </p:cNvSpPr>
          <p:nvPr/>
        </p:nvSpPr>
        <p:spPr>
          <a:xfrm>
            <a:off x="7772352" y="4094546"/>
            <a:ext cx="3315863" cy="237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US" dirty="0" err="1">
                <a:hlinkClick r:id="rId10"/>
              </a:rPr>
              <a:t>Monitorar</a:t>
            </a:r>
            <a:r>
              <a:rPr lang="en-US" dirty="0">
                <a:hlinkClick r:id="rId10"/>
              </a:rPr>
              <a:t> </a:t>
            </a:r>
            <a:r>
              <a:rPr lang="en-US" dirty="0" err="1">
                <a:hlinkClick r:id="rId10"/>
              </a:rPr>
              <a:t>métricas</a:t>
            </a:r>
            <a:r>
              <a:rPr lang="en-US" dirty="0">
                <a:hlinkClick r:id="rId10"/>
              </a:rPr>
              <a:t> de </a:t>
            </a:r>
            <a:r>
              <a:rPr lang="en-US" dirty="0" err="1">
                <a:hlinkClick r:id="rId10"/>
              </a:rPr>
              <a:t>uso</a:t>
            </a:r>
            <a:r>
              <a:rPr lang="en-US" dirty="0">
                <a:hlinkClick r:id="rId10"/>
              </a:rPr>
              <a:t> </a:t>
            </a:r>
            <a:r>
              <a:rPr lang="en-US" dirty="0" err="1">
                <a:hlinkClick r:id="rId10"/>
              </a:rPr>
              <a:t>em</a:t>
            </a:r>
            <a:r>
              <a:rPr lang="en-US" dirty="0">
                <a:hlinkClick r:id="rId10"/>
              </a:rPr>
              <a:t> workspaces (</a:t>
            </a:r>
            <a:r>
              <a:rPr lang="en-US" dirty="0" err="1">
                <a:hlinkClick r:id="rId10"/>
              </a:rPr>
              <a:t>versão</a:t>
            </a:r>
            <a:r>
              <a:rPr lang="en-US" dirty="0">
                <a:hlinkClick r:id="rId10"/>
              </a:rPr>
              <a:t> </a:t>
            </a:r>
            <a:r>
              <a:rPr lang="en-US" dirty="0" err="1">
                <a:hlinkClick r:id="rId10"/>
              </a:rPr>
              <a:t>prévia</a:t>
            </a:r>
            <a:r>
              <a:rPr lang="en-US" dirty="0">
                <a:hlinkClick r:id="rId10"/>
              </a:rPr>
              <a:t>)</a:t>
            </a:r>
            <a:endParaRPr lang="pt-BR" dirty="0"/>
          </a:p>
        </p:txBody>
      </p:sp>
      <p:pic>
        <p:nvPicPr>
          <p:cNvPr id="2062" name="Picture 14" descr="Captura de tela do novo relatório de Métricas de Uso.">
            <a:extLst>
              <a:ext uri="{FF2B5EF4-FFF2-40B4-BE49-F238E27FC236}">
                <a16:creationId xmlns:a16="http://schemas.microsoft.com/office/drawing/2014/main" id="{2E2915E3-DC52-9AAF-4F66-FB5C8AF9C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561" y="4921010"/>
            <a:ext cx="2493444" cy="132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C1C7636-8407-EA4F-2BCA-7E337B165283}"/>
              </a:ext>
            </a:extLst>
          </p:cNvPr>
          <p:cNvSpPr/>
          <p:nvPr/>
        </p:nvSpPr>
        <p:spPr>
          <a:xfrm>
            <a:off x="7795237" y="1434815"/>
            <a:ext cx="3315863" cy="2348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E604743-C8C0-1530-5DF0-2F06D12FA1E0}"/>
              </a:ext>
            </a:extLst>
          </p:cNvPr>
          <p:cNvSpPr txBox="1">
            <a:spLocks/>
          </p:cNvSpPr>
          <p:nvPr/>
        </p:nvSpPr>
        <p:spPr>
          <a:xfrm>
            <a:off x="7795237" y="1417499"/>
            <a:ext cx="3315863" cy="2252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>
                <a:hlinkClick r:id="rId12"/>
              </a:rPr>
              <a:t>Performance Analyzer</a:t>
            </a:r>
            <a:r>
              <a:rPr lang="pt-BR" dirty="0"/>
              <a:t> </a:t>
            </a:r>
          </a:p>
          <a:p>
            <a:endParaRPr lang="pt-BR" dirty="0"/>
          </a:p>
        </p:txBody>
      </p:sp>
      <p:pic>
        <p:nvPicPr>
          <p:cNvPr id="30" name="Picture 4" descr="Screenshot of the View ribbon, highlighting Performance Analyzer.">
            <a:extLst>
              <a:ext uri="{FF2B5EF4-FFF2-40B4-BE49-F238E27FC236}">
                <a16:creationId xmlns:a16="http://schemas.microsoft.com/office/drawing/2014/main" id="{674535F7-E69F-5332-C639-3C1C43B5A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085" y="1968383"/>
            <a:ext cx="2660965" cy="114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63FD80F-4A5C-7A25-EE53-A339D1E9E56B}"/>
              </a:ext>
            </a:extLst>
          </p:cNvPr>
          <p:cNvSpPr/>
          <p:nvPr/>
        </p:nvSpPr>
        <p:spPr>
          <a:xfrm>
            <a:off x="4275561" y="1435962"/>
            <a:ext cx="3315863" cy="2348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ED9B3F79-2348-A4B1-A93B-82FA66D308C7}"/>
              </a:ext>
            </a:extLst>
          </p:cNvPr>
          <p:cNvSpPr txBox="1">
            <a:spLocks/>
          </p:cNvSpPr>
          <p:nvPr/>
        </p:nvSpPr>
        <p:spPr>
          <a:xfrm>
            <a:off x="4393773" y="1434569"/>
            <a:ext cx="3315863" cy="2016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>
                <a:hlinkClick r:id="rId14"/>
              </a:rPr>
              <a:t>SQL Server Profile</a:t>
            </a:r>
            <a:endParaRPr lang="pt-BR" dirty="0"/>
          </a:p>
        </p:txBody>
      </p:sp>
      <p:pic>
        <p:nvPicPr>
          <p:cNvPr id="36" name="Picture 6" descr="XEProfiler Menu">
            <a:extLst>
              <a:ext uri="{FF2B5EF4-FFF2-40B4-BE49-F238E27FC236}">
                <a16:creationId xmlns:a16="http://schemas.microsoft.com/office/drawing/2014/main" id="{30039056-E2F8-2E81-48E0-37161D123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346" y="1947939"/>
            <a:ext cx="1730024" cy="158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A0D1E9-00E3-1567-526E-6A00CC7EC21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9734" y="1896280"/>
            <a:ext cx="2692195" cy="8298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F38E4C-9F2B-FE3E-241D-08F5AE48815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9734" y="2774586"/>
            <a:ext cx="2692195" cy="91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0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4" grpId="0"/>
      <p:bldP spid="19" grpId="0" animBg="1"/>
      <p:bldP spid="20" grpId="0"/>
      <p:bldP spid="22" grpId="0" animBg="1"/>
      <p:bldP spid="23" grpId="0"/>
      <p:bldP spid="27" grpId="0" animBg="1"/>
      <p:bldP spid="28" grpId="0"/>
      <p:bldP spid="32" grpId="0" animBg="1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A51E-39F6-557F-548D-ECB57010E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8886183" cy="79552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Otimização</a:t>
            </a:r>
            <a:r>
              <a:rPr lang="en-US" dirty="0"/>
              <a:t>: </a:t>
            </a:r>
            <a:r>
              <a:rPr lang="en-US" dirty="0" err="1"/>
              <a:t>Planejamento</a:t>
            </a:r>
            <a:r>
              <a:rPr lang="en-US" dirty="0"/>
              <a:t> e </a:t>
            </a:r>
            <a:r>
              <a:rPr lang="en-US" dirty="0" err="1"/>
              <a:t>Implementação</a:t>
            </a:r>
            <a:r>
              <a:rPr lang="en-US" dirty="0"/>
              <a:t> de Boas </a:t>
            </a:r>
            <a:r>
              <a:rPr lang="en-US" dirty="0" err="1"/>
              <a:t>práticas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92B3E-88F2-F6F8-23AF-8651F50F6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Cuidados</a:t>
            </a:r>
            <a:r>
              <a:rPr lang="en-US" dirty="0"/>
              <a:t> com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b="1" dirty="0" err="1"/>
              <a:t>Modelos</a:t>
            </a:r>
            <a:r>
              <a:rPr lang="en-US" b="1" dirty="0"/>
              <a:t> de </a:t>
            </a:r>
            <a:r>
              <a:rPr lang="en-US" b="1" dirty="0" err="1"/>
              <a:t>Importação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Consomem</a:t>
            </a:r>
            <a:r>
              <a:rPr lang="en-US" dirty="0"/>
              <a:t> </a:t>
            </a:r>
            <a:r>
              <a:rPr lang="en-US" dirty="0" err="1"/>
              <a:t>recursos</a:t>
            </a:r>
            <a:r>
              <a:rPr lang="en-US" dirty="0"/>
              <a:t> de </a:t>
            </a:r>
            <a:r>
              <a:rPr lang="en-US" dirty="0" err="1"/>
              <a:t>memória</a:t>
            </a:r>
            <a:r>
              <a:rPr lang="en-US" dirty="0"/>
              <a:t> e </a:t>
            </a:r>
            <a:r>
              <a:rPr lang="en-US" dirty="0" err="1"/>
              <a:t>computação</a:t>
            </a:r>
            <a:endParaRPr lang="en-US" dirty="0"/>
          </a:p>
          <a:p>
            <a:pPr lvl="1"/>
            <a:r>
              <a:rPr lang="en-US" dirty="0"/>
              <a:t>Minimize </a:t>
            </a:r>
            <a:r>
              <a:rPr lang="en-US" dirty="0" err="1"/>
              <a:t>os</a:t>
            </a:r>
            <a:r>
              <a:rPr lang="en-US" dirty="0"/>
              <a:t> dados </a:t>
            </a:r>
            <a:r>
              <a:rPr lang="en-US" dirty="0" err="1"/>
              <a:t>carregados</a:t>
            </a:r>
            <a:endParaRPr lang="en-US" dirty="0"/>
          </a:p>
          <a:p>
            <a:pPr lvl="1"/>
            <a:r>
              <a:rPr lang="en-US" dirty="0"/>
              <a:t>Evite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grandes</a:t>
            </a:r>
            <a:endParaRPr lang="en-US" dirty="0"/>
          </a:p>
          <a:p>
            <a:pPr lvl="1"/>
            <a:r>
              <a:rPr lang="en-US" dirty="0"/>
              <a:t>Avalie a </a:t>
            </a:r>
            <a:r>
              <a:rPr lang="en-US" dirty="0" err="1"/>
              <a:t>granularidade</a:t>
            </a:r>
            <a:r>
              <a:rPr lang="en-US" dirty="0"/>
              <a:t> </a:t>
            </a:r>
            <a:r>
              <a:rPr lang="en-US" dirty="0" err="1"/>
              <a:t>adequada</a:t>
            </a: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r>
              <a:rPr lang="pt-BR" dirty="0"/>
              <a:t>Seguir boas práticas de performance para </a:t>
            </a:r>
            <a:r>
              <a:rPr lang="pt-BR" b="1" dirty="0"/>
              <a:t>Power BI Embedded</a:t>
            </a:r>
          </a:p>
          <a:p>
            <a:pPr lvl="1"/>
            <a:r>
              <a:rPr lang="pt-BR" dirty="0"/>
              <a:t>Pbi Desktop e SDK sempre atualizados. </a:t>
            </a:r>
          </a:p>
          <a:p>
            <a:pPr lvl="1"/>
            <a:r>
              <a:rPr lang="pt-BR" dirty="0"/>
              <a:t>Priorizar uso de Preload Bootstrapping iFrame (obrigatório na SDK 2.9 em diante) para melhora de performance de CX.</a:t>
            </a:r>
          </a:p>
          <a:p>
            <a:pPr lvl="1"/>
            <a:r>
              <a:rPr lang="pt-BR" dirty="0"/>
              <a:t>Restringir a permissão para view sempre que possível. Edit mode requer a inicialização de componentes adicionais. </a:t>
            </a:r>
          </a:p>
          <a:p>
            <a:pPr lvl="1"/>
            <a:r>
              <a:rPr lang="pt-BR" dirty="0"/>
              <a:t>Minimizar filters, bookmarks e slicers para priorizar o uso de cache. </a:t>
            </a:r>
          </a:p>
          <a:p>
            <a:pPr lvl="1"/>
            <a:r>
              <a:rPr lang="pt-BR" dirty="0"/>
              <a:t>Sempre que possível utilizar o mesmo iFrame para multíplos reportes embarcados no mesmo espaço. E também para múltiplos componentes visuais no mesmo reporte. </a:t>
            </a:r>
          </a:p>
          <a:p>
            <a:pPr lvl="1"/>
            <a:r>
              <a:rPr lang="pt-BR" dirty="0"/>
              <a:t>Usar preferencialmente capacidades que permitem o uso de cache. Ex: Power BI Embedded. </a:t>
            </a:r>
          </a:p>
          <a:p>
            <a:pPr lvl="1"/>
            <a:r>
              <a:rPr lang="pt-BR" dirty="0"/>
              <a:t>Monitorar as medidas de performance (Performance analyzer) </a:t>
            </a:r>
          </a:p>
          <a:p>
            <a:pPr marL="228600" lvl="1" indent="0">
              <a:buNone/>
            </a:pPr>
            <a:endParaRPr lang="pt-BR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B32D6F-0477-BDDE-6646-E80BD560AD38}"/>
              </a:ext>
            </a:extLst>
          </p:cNvPr>
          <p:cNvGrpSpPr/>
          <p:nvPr/>
        </p:nvGrpSpPr>
        <p:grpSpPr>
          <a:xfrm>
            <a:off x="11208376" y="289991"/>
            <a:ext cx="844193" cy="1045122"/>
            <a:chOff x="5194692" y="2619375"/>
            <a:chExt cx="1704837" cy="1728978"/>
          </a:xfrm>
        </p:grpSpPr>
        <p:pic>
          <p:nvPicPr>
            <p:cNvPr id="5" name="Picture 2" descr="Image">
              <a:extLst>
                <a:ext uri="{FF2B5EF4-FFF2-40B4-BE49-F238E27FC236}">
                  <a16:creationId xmlns:a16="http://schemas.microsoft.com/office/drawing/2014/main" id="{890EEE0F-7058-3FC4-31B6-8E1DBA7805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0279" y="2619375"/>
              <a:ext cx="1619250" cy="16192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53C43F3C-390B-8CAB-6C18-1CDCC2B2372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48137" y="3112936"/>
              <a:ext cx="1581972" cy="888861"/>
            </a:xfrm>
            <a:prstGeom prst="bentConnector3">
              <a:avLst>
                <a:gd name="adj1" fmla="val 122340"/>
              </a:avLst>
            </a:prstGeom>
            <a:ln>
              <a:solidFill>
                <a:srgbClr val="57C5A5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77EB0EF-0E7E-7515-EBF3-E18B4F852BFD}"/>
                </a:ext>
              </a:extLst>
            </p:cNvPr>
            <p:cNvCxnSpPr>
              <a:cxnSpLocks/>
            </p:cNvCxnSpPr>
            <p:nvPr/>
          </p:nvCxnSpPr>
          <p:spPr>
            <a:xfrm>
              <a:off x="6067464" y="4117605"/>
              <a:ext cx="0" cy="230002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9AED475-D73B-5EC9-93F9-5BC49844E0C0}"/>
                </a:ext>
              </a:extLst>
            </p:cNvPr>
            <p:cNvCxnSpPr/>
            <p:nvPr/>
          </p:nvCxnSpPr>
          <p:spPr>
            <a:xfrm>
              <a:off x="5194692" y="4347607"/>
              <a:ext cx="872772" cy="0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C4EC86A6-AEC7-F4E6-39E2-072FD11AD63B}"/>
              </a:ext>
            </a:extLst>
          </p:cNvPr>
          <p:cNvSpPr/>
          <p:nvPr/>
        </p:nvSpPr>
        <p:spPr>
          <a:xfrm>
            <a:off x="10631340" y="917647"/>
            <a:ext cx="699269" cy="252708"/>
          </a:xfrm>
          <a:prstGeom prst="rightArrow">
            <a:avLst/>
          </a:prstGeom>
          <a:solidFill>
            <a:srgbClr val="D8843A"/>
          </a:solidFill>
          <a:ln>
            <a:solidFill>
              <a:srgbClr val="D8843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45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E3A27-D139-3A19-8149-943CBA6A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F80AD3-68F5-E251-037A-9CA8C41F5ECE}"/>
              </a:ext>
            </a:extLst>
          </p:cNvPr>
          <p:cNvSpPr/>
          <p:nvPr/>
        </p:nvSpPr>
        <p:spPr>
          <a:xfrm>
            <a:off x="649850" y="4094546"/>
            <a:ext cx="3315863" cy="23792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B5686-ADE0-1D7B-C21F-A59E6066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Otimização: </a:t>
            </a:r>
            <a:r>
              <a:rPr lang="en-US" dirty="0" err="1"/>
              <a:t>Planejamento</a:t>
            </a:r>
            <a:r>
              <a:rPr lang="en-US" dirty="0"/>
              <a:t> e </a:t>
            </a:r>
            <a:r>
              <a:rPr lang="en-US" dirty="0" err="1"/>
              <a:t>Implementação</a:t>
            </a:r>
            <a:endParaRPr lang="pt-BR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6D68F0-07A0-3168-C1D4-D7E91EF0A01E}"/>
              </a:ext>
            </a:extLst>
          </p:cNvPr>
          <p:cNvGrpSpPr/>
          <p:nvPr/>
        </p:nvGrpSpPr>
        <p:grpSpPr>
          <a:xfrm>
            <a:off x="11208376" y="289991"/>
            <a:ext cx="844193" cy="1045122"/>
            <a:chOff x="5194692" y="2619375"/>
            <a:chExt cx="1704837" cy="1728978"/>
          </a:xfrm>
        </p:grpSpPr>
        <p:pic>
          <p:nvPicPr>
            <p:cNvPr id="5" name="Picture 2" descr="Image">
              <a:extLst>
                <a:ext uri="{FF2B5EF4-FFF2-40B4-BE49-F238E27FC236}">
                  <a16:creationId xmlns:a16="http://schemas.microsoft.com/office/drawing/2014/main" id="{192FD81E-9398-64E5-9FCC-5235B76A82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0279" y="2619375"/>
              <a:ext cx="1619250" cy="16192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3EE8609C-ACF9-7DEC-DE8E-32BE5200DFE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848137" y="3112936"/>
              <a:ext cx="1581972" cy="888861"/>
            </a:xfrm>
            <a:prstGeom prst="bentConnector3">
              <a:avLst>
                <a:gd name="adj1" fmla="val 122340"/>
              </a:avLst>
            </a:prstGeom>
            <a:ln>
              <a:solidFill>
                <a:srgbClr val="57C5A5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0BE9F4A-98CA-0774-E487-3DA23ECD1C09}"/>
                </a:ext>
              </a:extLst>
            </p:cNvPr>
            <p:cNvCxnSpPr>
              <a:cxnSpLocks/>
            </p:cNvCxnSpPr>
            <p:nvPr/>
          </p:nvCxnSpPr>
          <p:spPr>
            <a:xfrm>
              <a:off x="6067464" y="4117605"/>
              <a:ext cx="0" cy="230002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25EC15A-9936-4D83-F0F1-47827C88AF09}"/>
                </a:ext>
              </a:extLst>
            </p:cNvPr>
            <p:cNvCxnSpPr/>
            <p:nvPr/>
          </p:nvCxnSpPr>
          <p:spPr>
            <a:xfrm>
              <a:off x="5194692" y="4347607"/>
              <a:ext cx="872772" cy="0"/>
            </a:xfrm>
            <a:prstGeom prst="line">
              <a:avLst/>
            </a:prstGeom>
            <a:ln>
              <a:solidFill>
                <a:srgbClr val="57C5A5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3F0FA5E0-21A7-D02D-2423-2C737CCDDFC5}"/>
              </a:ext>
            </a:extLst>
          </p:cNvPr>
          <p:cNvSpPr/>
          <p:nvPr/>
        </p:nvSpPr>
        <p:spPr>
          <a:xfrm>
            <a:off x="10631340" y="917647"/>
            <a:ext cx="699269" cy="252708"/>
          </a:xfrm>
          <a:prstGeom prst="rightArrow">
            <a:avLst/>
          </a:prstGeom>
          <a:solidFill>
            <a:srgbClr val="D8843A"/>
          </a:solidFill>
          <a:ln>
            <a:solidFill>
              <a:srgbClr val="D8843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974E0D-EAE2-80C6-64BA-79AABFA8A4E6}"/>
              </a:ext>
            </a:extLst>
          </p:cNvPr>
          <p:cNvSpPr/>
          <p:nvPr/>
        </p:nvSpPr>
        <p:spPr>
          <a:xfrm>
            <a:off x="649850" y="1417497"/>
            <a:ext cx="3315863" cy="2379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61AAC11-5DD7-FD16-032A-27DFBE0B10E7}"/>
              </a:ext>
            </a:extLst>
          </p:cNvPr>
          <p:cNvSpPr txBox="1">
            <a:spLocks/>
          </p:cNvSpPr>
          <p:nvPr/>
        </p:nvSpPr>
        <p:spPr>
          <a:xfrm>
            <a:off x="649850" y="1434815"/>
            <a:ext cx="3315863" cy="2252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Guia de Otimização</a:t>
            </a:r>
          </a:p>
          <a:p>
            <a:r>
              <a:rPr lang="pt-BR" sz="1500" dirty="0">
                <a:hlinkClick r:id="rId5"/>
              </a:rPr>
              <a:t>Documentação</a:t>
            </a:r>
            <a:endParaRPr lang="pt-BR" sz="1500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9FFBD58-1C6D-8272-BF22-9A4DFB2C89B8}"/>
              </a:ext>
            </a:extLst>
          </p:cNvPr>
          <p:cNvSpPr txBox="1">
            <a:spLocks/>
          </p:cNvSpPr>
          <p:nvPr/>
        </p:nvSpPr>
        <p:spPr>
          <a:xfrm>
            <a:off x="649850" y="4080318"/>
            <a:ext cx="3315863" cy="2170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Remoção de dados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utilizados</a:t>
            </a:r>
            <a:r>
              <a:rPr lang="en-US" dirty="0"/>
              <a:t> com</a:t>
            </a:r>
          </a:p>
          <a:p>
            <a:r>
              <a:rPr lang="en-US" sz="1500" dirty="0">
                <a:hlinkClick r:id="rId6"/>
              </a:rPr>
              <a:t>Documentação</a:t>
            </a:r>
            <a:endParaRPr lang="en-US" sz="1500" dirty="0"/>
          </a:p>
          <a:p>
            <a:r>
              <a:rPr lang="en-US" sz="1500" dirty="0">
                <a:hlinkClick r:id="rId6"/>
              </a:rPr>
              <a:t>Software (Free e </a:t>
            </a:r>
            <a:r>
              <a:rPr lang="en-US" sz="1500" dirty="0" err="1">
                <a:hlinkClick r:id="rId6"/>
              </a:rPr>
              <a:t>licenciado</a:t>
            </a:r>
            <a:r>
              <a:rPr lang="en-US" sz="1500" dirty="0">
                <a:hlinkClick r:id="rId6"/>
              </a:rPr>
              <a:t>)</a:t>
            </a:r>
            <a:endParaRPr lang="en-US" sz="1500" dirty="0"/>
          </a:p>
          <a:p>
            <a:r>
              <a:rPr lang="en-US" sz="1500" dirty="0" err="1"/>
              <a:t>Recomendação</a:t>
            </a:r>
            <a:r>
              <a:rPr lang="en-US" sz="1500" dirty="0"/>
              <a:t> </a:t>
            </a:r>
            <a:r>
              <a:rPr lang="en-US" sz="1500" dirty="0" err="1"/>
              <a:t>DataSide</a:t>
            </a:r>
            <a:r>
              <a:rPr lang="en-US" sz="1500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69BEB4-EA79-B561-8905-2B9C8080E0C5}"/>
              </a:ext>
            </a:extLst>
          </p:cNvPr>
          <p:cNvSpPr/>
          <p:nvPr/>
        </p:nvSpPr>
        <p:spPr>
          <a:xfrm>
            <a:off x="4213837" y="4087960"/>
            <a:ext cx="3315863" cy="23792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E3B1892-0ADB-D26F-67D8-C754C422C103}"/>
              </a:ext>
            </a:extLst>
          </p:cNvPr>
          <p:cNvSpPr txBox="1">
            <a:spLocks/>
          </p:cNvSpPr>
          <p:nvPr/>
        </p:nvSpPr>
        <p:spPr>
          <a:xfrm>
            <a:off x="4213837" y="4087962"/>
            <a:ext cx="3315863" cy="2170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US" dirty="0" err="1"/>
              <a:t>Verificação</a:t>
            </a:r>
            <a:r>
              <a:rPr lang="en-US" dirty="0"/>
              <a:t> de boas </a:t>
            </a:r>
            <a:r>
              <a:rPr lang="en-US" dirty="0" err="1"/>
              <a:t>práticas</a:t>
            </a:r>
            <a:r>
              <a:rPr lang="en-US" dirty="0"/>
              <a:t> de layout</a:t>
            </a:r>
            <a:endParaRPr lang="pt-BR" dirty="0"/>
          </a:p>
          <a:p>
            <a:r>
              <a:rPr lang="pt-BR" sz="1500" dirty="0">
                <a:hlinkClick r:id="rId7"/>
              </a:rPr>
              <a:t>PBI Inspector ommunity project</a:t>
            </a:r>
            <a:r>
              <a:rPr lang="pt-BR" sz="1500" dirty="0"/>
              <a:t> </a:t>
            </a:r>
            <a:r>
              <a:rPr lang="pt-BR" sz="1500" dirty="0">
                <a:solidFill>
                  <a:srgbClr val="FF0000"/>
                </a:solidFill>
              </a:rPr>
              <a:t>(sem suporte)</a:t>
            </a:r>
          </a:p>
          <a:p>
            <a:r>
              <a:rPr lang="pt-BR" sz="1500" dirty="0"/>
              <a:t>Recomendação Dataside</a:t>
            </a:r>
          </a:p>
          <a:p>
            <a:endParaRPr lang="pt-B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5E9969-F54D-988B-0EC2-E09A5BA992BB}"/>
              </a:ext>
            </a:extLst>
          </p:cNvPr>
          <p:cNvSpPr/>
          <p:nvPr/>
        </p:nvSpPr>
        <p:spPr>
          <a:xfrm>
            <a:off x="7785715" y="4080318"/>
            <a:ext cx="3315863" cy="23934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0D66F2-F93D-E833-F4FE-E9EC9843A811}"/>
              </a:ext>
            </a:extLst>
          </p:cNvPr>
          <p:cNvSpPr txBox="1">
            <a:spLocks/>
          </p:cNvSpPr>
          <p:nvPr/>
        </p:nvSpPr>
        <p:spPr>
          <a:xfrm>
            <a:off x="7772352" y="4094546"/>
            <a:ext cx="3315863" cy="237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US" dirty="0" err="1"/>
              <a:t>Automatizar</a:t>
            </a:r>
            <a:r>
              <a:rPr lang="en-US" dirty="0"/>
              <a:t> o </a:t>
            </a: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verificação</a:t>
            </a:r>
            <a:endParaRPr lang="en-US" dirty="0"/>
          </a:p>
          <a:p>
            <a:r>
              <a:rPr lang="en-US" sz="1500" dirty="0" err="1"/>
              <a:t>Estabelecer</a:t>
            </a:r>
            <a:r>
              <a:rPr lang="en-US" sz="1500" dirty="0"/>
              <a:t> </a:t>
            </a:r>
            <a:r>
              <a:rPr lang="en-US" sz="1500" dirty="0" err="1"/>
              <a:t>esteira</a:t>
            </a:r>
            <a:r>
              <a:rPr lang="en-US" sz="1500" dirty="0"/>
              <a:t> de CI/CD para a </a:t>
            </a:r>
            <a:r>
              <a:rPr lang="en-US" sz="1500" dirty="0" err="1"/>
              <a:t>publicação</a:t>
            </a:r>
            <a:r>
              <a:rPr lang="en-US" sz="1500" dirty="0"/>
              <a:t> de </a:t>
            </a:r>
            <a:r>
              <a:rPr lang="en-US" sz="1500" dirty="0" err="1"/>
              <a:t>Reportes</a:t>
            </a:r>
            <a:endParaRPr lang="en-US" sz="1500" dirty="0"/>
          </a:p>
          <a:p>
            <a:r>
              <a:rPr lang="en-US" sz="1500" dirty="0" err="1"/>
              <a:t>Incluir</a:t>
            </a:r>
            <a:r>
              <a:rPr lang="en-US" sz="1500" dirty="0"/>
              <a:t> BPA, </a:t>
            </a:r>
            <a:r>
              <a:rPr lang="en-US" sz="1500" dirty="0" err="1"/>
              <a:t>pbix</a:t>
            </a:r>
            <a:r>
              <a:rPr lang="en-US" sz="1500" dirty="0"/>
              <a:t> inspect, </a:t>
            </a:r>
            <a:r>
              <a:rPr lang="en-US" sz="1500" dirty="0" err="1"/>
              <a:t>etc</a:t>
            </a:r>
            <a:r>
              <a:rPr lang="en-US" sz="1500" dirty="0"/>
              <a:t> </a:t>
            </a:r>
            <a:endParaRPr lang="pt-BR" sz="15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6301B9-D570-F436-E044-80BE27B1A683}"/>
              </a:ext>
            </a:extLst>
          </p:cNvPr>
          <p:cNvSpPr/>
          <p:nvPr/>
        </p:nvSpPr>
        <p:spPr>
          <a:xfrm>
            <a:off x="4213837" y="1434815"/>
            <a:ext cx="3315863" cy="2348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11F6A7F-2D38-0ED9-2084-6D756CB3BA8D}"/>
              </a:ext>
            </a:extLst>
          </p:cNvPr>
          <p:cNvSpPr txBox="1">
            <a:spLocks/>
          </p:cNvSpPr>
          <p:nvPr/>
        </p:nvSpPr>
        <p:spPr>
          <a:xfrm>
            <a:off x="4213837" y="1417499"/>
            <a:ext cx="3315863" cy="2252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Seguir boas práticas de performance para Power BI Embedded</a:t>
            </a:r>
          </a:p>
          <a:p>
            <a:r>
              <a:rPr lang="pt-BR" sz="1500" dirty="0">
                <a:hlinkClick r:id="rId8"/>
              </a:rPr>
              <a:t>Documentação</a:t>
            </a:r>
            <a:endParaRPr lang="pt-BR" sz="15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ABB3E3-C2B5-76A9-90C2-2B6677A68804}"/>
              </a:ext>
            </a:extLst>
          </p:cNvPr>
          <p:cNvSpPr/>
          <p:nvPr/>
        </p:nvSpPr>
        <p:spPr>
          <a:xfrm>
            <a:off x="7774301" y="1414144"/>
            <a:ext cx="3315863" cy="23480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A8A09F53-CCAC-029C-F206-E9A91C870AA5}"/>
              </a:ext>
            </a:extLst>
          </p:cNvPr>
          <p:cNvSpPr txBox="1">
            <a:spLocks/>
          </p:cNvSpPr>
          <p:nvPr/>
        </p:nvSpPr>
        <p:spPr>
          <a:xfrm>
            <a:off x="7892514" y="1412751"/>
            <a:ext cx="3195702" cy="201624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2100" dirty="0"/>
              <a:t>Check list boas práticas de modelo com o Best Practice Analyzer</a:t>
            </a:r>
          </a:p>
          <a:p>
            <a:r>
              <a:rPr lang="pt-BR" dirty="0">
                <a:hlinkClick r:id="rId9"/>
              </a:rPr>
              <a:t>Documentação</a:t>
            </a:r>
            <a:endParaRPr lang="pt-BR" dirty="0"/>
          </a:p>
          <a:p>
            <a:r>
              <a:rPr lang="pt-BR" dirty="0">
                <a:hlinkClick r:id="rId10"/>
              </a:rPr>
              <a:t>Open Source</a:t>
            </a:r>
            <a:endParaRPr lang="pt-BR" dirty="0"/>
          </a:p>
          <a:p>
            <a:r>
              <a:rPr lang="pt-BR" dirty="0">
                <a:hlinkClick r:id="rId11"/>
              </a:rPr>
              <a:t>Licenciado</a:t>
            </a:r>
            <a:endParaRPr lang="pt-BR" dirty="0"/>
          </a:p>
        </p:txBody>
      </p:sp>
      <p:pic>
        <p:nvPicPr>
          <p:cNvPr id="12" name="Graphic 11" descr="Lights On with solid fill">
            <a:extLst>
              <a:ext uri="{FF2B5EF4-FFF2-40B4-BE49-F238E27FC236}">
                <a16:creationId xmlns:a16="http://schemas.microsoft.com/office/drawing/2014/main" id="{22757D53-3047-2762-0E61-D121C1609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56942" y="5724939"/>
            <a:ext cx="308114" cy="308114"/>
          </a:xfrm>
          <a:prstGeom prst="rect">
            <a:avLst/>
          </a:prstGeom>
        </p:spPr>
      </p:pic>
      <p:pic>
        <p:nvPicPr>
          <p:cNvPr id="15" name="Graphic 14" descr="Lights On with solid fill">
            <a:extLst>
              <a:ext uri="{FF2B5EF4-FFF2-40B4-BE49-F238E27FC236}">
                <a16:creationId xmlns:a16="http://schemas.microsoft.com/office/drawing/2014/main" id="{E79169F6-7BCA-3A48-9A00-E73F76E29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88646" y="5620577"/>
            <a:ext cx="308114" cy="30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6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animBg="1"/>
      <p:bldP spid="11" grpId="0"/>
      <p:bldP spid="14" grpId="0"/>
      <p:bldP spid="19" grpId="0" animBg="1"/>
      <p:bldP spid="20" grpId="0"/>
      <p:bldP spid="22" grpId="0" animBg="1"/>
      <p:bldP spid="23" grpId="0"/>
      <p:bldP spid="27" grpId="0" animBg="1"/>
      <p:bldP spid="28" grpId="0"/>
      <p:bldP spid="32" grpId="0" animBg="1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9321-EC14-193F-F1B2-7D7639C81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C870-EA1D-25BA-AB1C-F9DFC2F93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29" y="2103120"/>
            <a:ext cx="4363279" cy="2624328"/>
          </a:xfrm>
        </p:spPr>
        <p:txBody>
          <a:bodyPr anchor="ctr">
            <a:normAutofit/>
          </a:bodyPr>
          <a:lstStyle/>
          <a:p>
            <a:r>
              <a:rPr lang="en-US" sz="4400" dirty="0" err="1"/>
              <a:t>Esteira</a:t>
            </a:r>
            <a:r>
              <a:rPr lang="en-US" sz="4400" dirty="0"/>
              <a:t> de CI/CD para </a:t>
            </a:r>
            <a:r>
              <a:rPr lang="en-US" sz="4400" dirty="0" err="1"/>
              <a:t>relatórios</a:t>
            </a:r>
            <a:r>
              <a:rPr lang="en-US" sz="4400" dirty="0"/>
              <a:t> de Power BI</a:t>
            </a:r>
            <a:endParaRPr lang="pt-BR" sz="2700" dirty="0"/>
          </a:p>
        </p:txBody>
      </p:sp>
      <p:pic>
        <p:nvPicPr>
          <p:cNvPr id="4" name="Picture 3" descr="A close-up of a diagram&#10;&#10;AI-generated content may be incorrect.">
            <a:extLst>
              <a:ext uri="{FF2B5EF4-FFF2-40B4-BE49-F238E27FC236}">
                <a16:creationId xmlns:a16="http://schemas.microsoft.com/office/drawing/2014/main" id="{732DFCC8-8149-618C-D000-9C3E6EF8E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728" y="1875973"/>
            <a:ext cx="6804534" cy="271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20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288471-DC3F-54D7-4B3C-CCEEF2C83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9" y="2121163"/>
            <a:ext cx="3652431" cy="18233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910413-7DA1-DF51-82A4-4078B770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Opções</a:t>
            </a:r>
            <a:r>
              <a:rPr lang="en-US" dirty="0"/>
              <a:t> de Deployment </a:t>
            </a:r>
            <a:r>
              <a:rPr lang="en-US" dirty="0" err="1"/>
              <a:t>automatizado</a:t>
            </a:r>
            <a:r>
              <a:rPr lang="en-US" dirty="0"/>
              <a:t> de </a:t>
            </a:r>
            <a:r>
              <a:rPr lang="en-US" dirty="0" err="1"/>
              <a:t>relatórios</a:t>
            </a:r>
            <a:r>
              <a:rPr lang="en-US" dirty="0"/>
              <a:t> PBI</a:t>
            </a:r>
            <a:endParaRPr lang="pt-B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A242BE-CB5D-BB2F-9F10-9588E28A7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324714" y="2111224"/>
            <a:ext cx="3132993" cy="254588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531AC2-6182-3723-5299-13D633DF7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157" y="2121163"/>
            <a:ext cx="3844705" cy="32658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2902F8-FF11-C780-7DAE-96C6CD89F618}"/>
              </a:ext>
            </a:extLst>
          </p:cNvPr>
          <p:cNvSpPr txBox="1"/>
          <p:nvPr/>
        </p:nvSpPr>
        <p:spPr>
          <a:xfrm>
            <a:off x="612648" y="1751831"/>
            <a:ext cx="365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Fabric Deployment pipeline</a:t>
            </a:r>
            <a:endParaRPr lang="pt-B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DFE84-66B7-F639-3165-913F0A7C7816}"/>
              </a:ext>
            </a:extLst>
          </p:cNvPr>
          <p:cNvSpPr txBox="1"/>
          <p:nvPr/>
        </p:nvSpPr>
        <p:spPr>
          <a:xfrm>
            <a:off x="7609157" y="1453657"/>
            <a:ext cx="3844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 BI APIs</a:t>
            </a:r>
          </a:p>
          <a:p>
            <a:pPr algn="ctr"/>
            <a:r>
              <a:rPr lang="en-US" dirty="0" err="1"/>
              <a:t>Github</a:t>
            </a:r>
            <a:r>
              <a:rPr lang="en-US" dirty="0"/>
              <a:t>/ADO pipelines</a:t>
            </a:r>
            <a:endParaRPr lang="pt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E5CA73-950A-90CF-1F57-5425E22B87DF}"/>
              </a:ext>
            </a:extLst>
          </p:cNvPr>
          <p:cNvSpPr txBox="1"/>
          <p:nvPr/>
        </p:nvSpPr>
        <p:spPr>
          <a:xfrm>
            <a:off x="4324713" y="1751831"/>
            <a:ext cx="313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Fabric Git Integration</a:t>
            </a:r>
            <a:endParaRPr lang="pt-BR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45A553-065A-8489-483B-A4766A928B49}"/>
              </a:ext>
            </a:extLst>
          </p:cNvPr>
          <p:cNvCxnSpPr>
            <a:cxnSpLocks/>
          </p:cNvCxnSpPr>
          <p:nvPr/>
        </p:nvCxnSpPr>
        <p:spPr>
          <a:xfrm>
            <a:off x="612648" y="5810043"/>
            <a:ext cx="108412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BE4F31-B807-6A42-2C31-AADF8240CD18}"/>
              </a:ext>
            </a:extLst>
          </p:cNvPr>
          <p:cNvSpPr txBox="1"/>
          <p:nvPr/>
        </p:nvSpPr>
        <p:spPr>
          <a:xfrm>
            <a:off x="612648" y="5863777"/>
            <a:ext cx="3158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Gerenciado</a:t>
            </a:r>
            <a:endParaRPr lang="en-US" dirty="0"/>
          </a:p>
          <a:p>
            <a:r>
              <a:rPr lang="pt-BR" dirty="0"/>
              <a:t>+ Restrições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9288CA-5C42-505A-512C-FBE1F2BACD73}"/>
              </a:ext>
            </a:extLst>
          </p:cNvPr>
          <p:cNvSpPr txBox="1"/>
          <p:nvPr/>
        </p:nvSpPr>
        <p:spPr>
          <a:xfrm>
            <a:off x="8763073" y="5909943"/>
            <a:ext cx="2690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+ Controle</a:t>
            </a:r>
          </a:p>
          <a:p>
            <a:pPr algn="r"/>
            <a:r>
              <a:rPr lang="pt-BR" dirty="0"/>
              <a:t>+ Operacional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CDCAD8-98D6-D222-7DD0-D05F936D808F}"/>
              </a:ext>
            </a:extLst>
          </p:cNvPr>
          <p:cNvSpPr txBox="1"/>
          <p:nvPr/>
        </p:nvSpPr>
        <p:spPr>
          <a:xfrm>
            <a:off x="4309779" y="4693355"/>
            <a:ext cx="19607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 err="1">
                <a:solidFill>
                  <a:srgbClr val="FF0000"/>
                </a:solidFill>
              </a:rPr>
              <a:t>Github</a:t>
            </a:r>
            <a:r>
              <a:rPr lang="en-US" sz="1100" b="1" dirty="0">
                <a:solidFill>
                  <a:srgbClr val="FF0000"/>
                </a:solidFill>
              </a:rPr>
              <a:t> integration </a:t>
            </a:r>
            <a:r>
              <a:rPr lang="en-US" sz="1100" b="1" dirty="0" err="1">
                <a:solidFill>
                  <a:srgbClr val="FF0000"/>
                </a:solidFill>
              </a:rPr>
              <a:t>em</a:t>
            </a:r>
            <a:r>
              <a:rPr lang="en-US" sz="1100" b="1" dirty="0">
                <a:solidFill>
                  <a:srgbClr val="FF0000"/>
                </a:solidFill>
              </a:rPr>
              <a:t> preview</a:t>
            </a:r>
            <a:endParaRPr lang="pt-B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79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7" grpId="0"/>
      <p:bldP spid="18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A7FE0-6AE1-41BF-68A4-3F6EA8168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ED8FD-8735-AB1F-A797-C15C7306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dirty="0">
                <a:latin typeface="+mj-lt"/>
                <a:ea typeface="+mj-ea"/>
                <a:cs typeface="+mj-cs"/>
              </a:rPr>
              <a:t>Por que </a:t>
            </a:r>
            <a:r>
              <a:rPr lang="en-US" b="0" kern="1200" dirty="0" err="1">
                <a:latin typeface="+mj-lt"/>
                <a:ea typeface="+mj-ea"/>
                <a:cs typeface="+mj-cs"/>
              </a:rPr>
              <a:t>automatizar</a:t>
            </a:r>
            <a:r>
              <a:rPr lang="en-US" b="0" kern="1200" dirty="0">
                <a:latin typeface="+mj-lt"/>
                <a:ea typeface="+mj-ea"/>
                <a:cs typeface="+mj-cs"/>
              </a:rPr>
              <a:t> o deployment? </a:t>
            </a:r>
          </a:p>
        </p:txBody>
      </p:sp>
      <p:graphicFrame>
        <p:nvGraphicFramePr>
          <p:cNvPr id="12" name="TextBox 9">
            <a:extLst>
              <a:ext uri="{FF2B5EF4-FFF2-40B4-BE49-F238E27FC236}">
                <a16:creationId xmlns:a16="http://schemas.microsoft.com/office/drawing/2014/main" id="{5277AFAB-57FE-0774-06DD-6CAC71874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694720"/>
              </p:ext>
            </p:extLst>
          </p:nvPr>
        </p:nvGraphicFramePr>
        <p:xfrm>
          <a:off x="4892040" y="640081"/>
          <a:ext cx="6675120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96111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F69A-DC2C-5C51-A69E-32DA0FC1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Versionamento</a:t>
            </a:r>
            <a:r>
              <a:rPr lang="en-US" dirty="0"/>
              <a:t> de </a:t>
            </a:r>
            <a:r>
              <a:rPr lang="en-US" dirty="0" err="1"/>
              <a:t>fonte</a:t>
            </a:r>
            <a:endParaRPr lang="pt-BR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188852-7F11-AFA5-F038-0240D3011F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7369" y="1433607"/>
            <a:ext cx="4388127" cy="399078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48CC40-0C8A-7D64-C9B8-7B7915814985}"/>
              </a:ext>
            </a:extLst>
          </p:cNvPr>
          <p:cNvSpPr txBox="1"/>
          <p:nvPr/>
        </p:nvSpPr>
        <p:spPr>
          <a:xfrm>
            <a:off x="8132684" y="6400800"/>
            <a:ext cx="4059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Source: https://censius.ai/blogs/version-control-importance</a:t>
            </a:r>
            <a:endParaRPr lang="pt-BR" sz="1200" dirty="0"/>
          </a:p>
        </p:txBody>
      </p:sp>
      <p:pic>
        <p:nvPicPr>
          <p:cNvPr id="1026" name="Picture 2" descr="Centralized Version control system">
            <a:extLst>
              <a:ext uri="{FF2B5EF4-FFF2-40B4-BE49-F238E27FC236}">
                <a16:creationId xmlns:a16="http://schemas.microsoft.com/office/drawing/2014/main" id="{618394DC-E118-DA8C-73C1-B12E6B482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189" y="1433607"/>
            <a:ext cx="5479131" cy="359560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622C38-DA4A-E9C9-3F63-D38A089A4A51}"/>
              </a:ext>
            </a:extLst>
          </p:cNvPr>
          <p:cNvSpPr txBox="1"/>
          <p:nvPr/>
        </p:nvSpPr>
        <p:spPr>
          <a:xfrm>
            <a:off x="807369" y="5477470"/>
            <a:ext cx="4388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Foco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colaboração</a:t>
            </a:r>
            <a:r>
              <a:rPr lang="en-US" sz="1200" dirty="0"/>
              <a:t> </a:t>
            </a:r>
            <a:r>
              <a:rPr lang="en-US" sz="1200" dirty="0" err="1"/>
              <a:t>distribuída</a:t>
            </a:r>
            <a:r>
              <a:rPr lang="en-US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Mais </a:t>
            </a:r>
            <a:r>
              <a:rPr lang="en-US" sz="1200" dirty="0" err="1"/>
              <a:t>flexível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Mais </a:t>
            </a:r>
            <a:r>
              <a:rPr lang="en-US" sz="1200" dirty="0" err="1"/>
              <a:t>complexo</a:t>
            </a:r>
            <a:r>
              <a:rPr lang="en-US" sz="1200" dirty="0"/>
              <a:t> o </a:t>
            </a:r>
            <a:r>
              <a:rPr lang="en-US" sz="1200" dirty="0" err="1"/>
              <a:t>processo</a:t>
            </a:r>
            <a:r>
              <a:rPr lang="en-US" sz="1200" dirty="0"/>
              <a:t> de </a:t>
            </a:r>
            <a:r>
              <a:rPr lang="en-US" sz="1200" dirty="0" err="1"/>
              <a:t>gerenciamento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Trabalho</a:t>
            </a:r>
            <a:r>
              <a:rPr lang="en-US" sz="1200" dirty="0"/>
              <a:t> off-line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Mais popular: 87% dos </a:t>
            </a:r>
            <a:r>
              <a:rPr lang="en-US" sz="1200" dirty="0" err="1"/>
              <a:t>projetos</a:t>
            </a:r>
            <a:r>
              <a:rPr lang="en-US" sz="1200" dirty="0"/>
              <a:t> </a:t>
            </a:r>
            <a:r>
              <a:rPr lang="en-US" sz="1200" dirty="0" err="1"/>
              <a:t>versionados</a:t>
            </a:r>
            <a:r>
              <a:rPr lang="en-US" sz="1200" dirty="0"/>
              <a:t> </a:t>
            </a:r>
            <a:r>
              <a:rPr lang="en-US" sz="1200" dirty="0" err="1"/>
              <a:t>utilizam</a:t>
            </a:r>
            <a:r>
              <a:rPr lang="en-US" sz="1200" dirty="0"/>
              <a:t> git.</a:t>
            </a:r>
            <a:endParaRPr lang="pt-B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692D6-99AD-6334-2BF5-127DABCBC629}"/>
              </a:ext>
            </a:extLst>
          </p:cNvPr>
          <p:cNvSpPr txBox="1"/>
          <p:nvPr/>
        </p:nvSpPr>
        <p:spPr>
          <a:xfrm>
            <a:off x="5774215" y="5477470"/>
            <a:ext cx="4388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dirty="0"/>
              <a:t>Mais simples de usar e </a:t>
            </a:r>
            <a:r>
              <a:rPr lang="en-US" dirty="0" err="1"/>
              <a:t>gerenciar</a:t>
            </a:r>
            <a:r>
              <a:rPr lang="en-US" dirty="0"/>
              <a:t>. </a:t>
            </a:r>
          </a:p>
          <a:p>
            <a:r>
              <a:rPr lang="en-US" dirty="0"/>
              <a:t>Menor </a:t>
            </a:r>
            <a:r>
              <a:rPr lang="en-US" dirty="0" err="1"/>
              <a:t>flexibilidade</a:t>
            </a:r>
            <a:endParaRPr lang="en-US" dirty="0"/>
          </a:p>
          <a:p>
            <a:r>
              <a:rPr lang="en-US" dirty="0"/>
              <a:t>Mais </a:t>
            </a:r>
            <a:r>
              <a:rPr lang="en-US" dirty="0" err="1"/>
              <a:t>restrição</a:t>
            </a:r>
            <a:r>
              <a:rPr lang="en-US" dirty="0"/>
              <a:t> no </a:t>
            </a:r>
            <a:r>
              <a:rPr lang="en-US" dirty="0" err="1"/>
              <a:t>trabalho</a:t>
            </a:r>
            <a:r>
              <a:rPr lang="en-US" dirty="0"/>
              <a:t> online</a:t>
            </a:r>
          </a:p>
          <a:p>
            <a:r>
              <a:rPr lang="en-US" dirty="0" err="1"/>
              <a:t>Não</a:t>
            </a:r>
            <a:r>
              <a:rPr lang="en-US" dirty="0"/>
              <a:t> é </a:t>
            </a:r>
            <a:r>
              <a:rPr lang="en-US" dirty="0" err="1"/>
              <a:t>suportado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759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A8A0-A364-0831-7F9D-0B160EB4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Versionamento</a:t>
            </a:r>
            <a:r>
              <a:rPr lang="en-US" dirty="0"/>
              <a:t> de </a:t>
            </a:r>
            <a:r>
              <a:rPr lang="en-US" dirty="0" err="1"/>
              <a:t>relatórios</a:t>
            </a:r>
            <a:r>
              <a:rPr lang="en-US" dirty="0"/>
              <a:t> Power BI</a:t>
            </a:r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D5BE2-1D99-155C-6404-F30C3B9C0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554" y="2004139"/>
            <a:ext cx="1189962" cy="11899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C7B94-A895-0531-47EE-54D7E5438DE3}"/>
              </a:ext>
            </a:extLst>
          </p:cNvPr>
          <p:cNvSpPr txBox="1"/>
          <p:nvPr/>
        </p:nvSpPr>
        <p:spPr>
          <a:xfrm>
            <a:off x="2896207" y="304656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.</a:t>
            </a:r>
            <a:r>
              <a:rPr lang="en-US" sz="1200" dirty="0" err="1"/>
              <a:t>pbix</a:t>
            </a:r>
            <a:endParaRPr lang="pt-BR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E9CBA-B3B0-6D04-48AB-FAA14505FAFA}"/>
              </a:ext>
            </a:extLst>
          </p:cNvPr>
          <p:cNvSpPr txBox="1"/>
          <p:nvPr/>
        </p:nvSpPr>
        <p:spPr>
          <a:xfrm>
            <a:off x="7918704" y="3185065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"/>
            </a:lvl1pPr>
          </a:lstStyle>
          <a:p>
            <a:r>
              <a:rPr lang="en-US" dirty="0"/>
              <a:t>.</a:t>
            </a:r>
            <a:r>
              <a:rPr lang="en-US" dirty="0" err="1"/>
              <a:t>pbi</a:t>
            </a:r>
            <a:r>
              <a:rPr lang="en-US" dirty="0" err="1">
                <a:solidFill>
                  <a:srgbClr val="FF0000"/>
                </a:solidFill>
              </a:rPr>
              <a:t>p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952B77-C37A-444B-8C21-F88C01B45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420" y="1987106"/>
            <a:ext cx="1189962" cy="11899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CD2DB7-26F5-BB94-A2A5-E4B1106F1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447" y="3741595"/>
            <a:ext cx="2409919" cy="127421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2E6BD7-59FF-1F20-C2F8-C3EB18EC5260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177749" y="3462064"/>
            <a:ext cx="1" cy="279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3EA3A26-E7A1-6BAB-BA3A-80A22738E68C}"/>
              </a:ext>
            </a:extLst>
          </p:cNvPr>
          <p:cNvSpPr txBox="1"/>
          <p:nvPr/>
        </p:nvSpPr>
        <p:spPr>
          <a:xfrm>
            <a:off x="8389125" y="3204128"/>
            <a:ext cx="164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Feature </a:t>
            </a:r>
            <a:r>
              <a:rPr lang="en-US" sz="1400" b="1" dirty="0" err="1">
                <a:solidFill>
                  <a:srgbClr val="FF0000"/>
                </a:solidFill>
              </a:rPr>
              <a:t>em</a:t>
            </a:r>
            <a:r>
              <a:rPr lang="en-US" sz="1400" b="1" dirty="0">
                <a:solidFill>
                  <a:srgbClr val="FF0000"/>
                </a:solidFill>
              </a:rPr>
              <a:t> preview</a:t>
            </a:r>
            <a:endParaRPr lang="pt-BR" sz="1400" b="1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346F42-6F3D-CAFA-763E-63F668E1C2C2}"/>
              </a:ext>
            </a:extLst>
          </p:cNvPr>
          <p:cNvSpPr/>
          <p:nvPr/>
        </p:nvSpPr>
        <p:spPr>
          <a:xfrm>
            <a:off x="2692335" y="3743987"/>
            <a:ext cx="9144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01073D-5119-D736-4AAC-0B25825C67D7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3144833" y="3323565"/>
            <a:ext cx="4702" cy="420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663BA4-4F6E-B9D4-F9E6-FDA909D7570F}"/>
              </a:ext>
            </a:extLst>
          </p:cNvPr>
          <p:cNvSpPr txBox="1"/>
          <p:nvPr/>
        </p:nvSpPr>
        <p:spPr>
          <a:xfrm>
            <a:off x="1430333" y="5015804"/>
            <a:ext cx="3429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Controle de </a:t>
            </a:r>
            <a:r>
              <a:rPr lang="en-US" sz="1400" dirty="0" err="1"/>
              <a:t>versionamento</a:t>
            </a:r>
            <a:r>
              <a:rPr lang="en-US" sz="1400" dirty="0"/>
              <a:t> </a:t>
            </a:r>
            <a:r>
              <a:rPr lang="en-US" sz="1400" dirty="0" err="1"/>
              <a:t>baseado</a:t>
            </a:r>
            <a:r>
              <a:rPr lang="en-US" sz="1400" dirty="0"/>
              <a:t> no hash. </a:t>
            </a:r>
            <a:r>
              <a:rPr lang="en-US" sz="1400" dirty="0" err="1"/>
              <a:t>Significa</a:t>
            </a:r>
            <a:r>
              <a:rPr lang="en-US" sz="1400" dirty="0"/>
              <a:t> que: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É </a:t>
            </a:r>
            <a:r>
              <a:rPr lang="en-US" sz="1400" dirty="0" err="1"/>
              <a:t>possível</a:t>
            </a:r>
            <a:r>
              <a:rPr lang="en-US" sz="1400" dirty="0"/>
              <a:t> saber que </a:t>
            </a:r>
            <a:r>
              <a:rPr lang="en-US" sz="1400" dirty="0" err="1"/>
              <a:t>houve</a:t>
            </a:r>
            <a:r>
              <a:rPr lang="en-US" sz="1400" dirty="0"/>
              <a:t> </a:t>
            </a:r>
            <a:r>
              <a:rPr lang="en-US" sz="1400" dirty="0" err="1"/>
              <a:t>alteração</a:t>
            </a:r>
            <a:r>
              <a:rPr lang="en-US" sz="1400" dirty="0"/>
              <a:t> e </a:t>
            </a:r>
            <a:r>
              <a:rPr lang="en-US" sz="1400" dirty="0" err="1"/>
              <a:t>quem</a:t>
            </a:r>
            <a:r>
              <a:rPr lang="en-US" sz="1400" dirty="0"/>
              <a:t> </a:t>
            </a:r>
            <a:r>
              <a:rPr lang="en-US" sz="1400" dirty="0" err="1"/>
              <a:t>alterou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 err="1"/>
              <a:t>Não</a:t>
            </a:r>
            <a:r>
              <a:rPr lang="en-US" sz="1400" dirty="0"/>
              <a:t> é </a:t>
            </a:r>
            <a:r>
              <a:rPr lang="en-US" sz="1400" dirty="0" err="1"/>
              <a:t>possível</a:t>
            </a:r>
            <a:r>
              <a:rPr lang="en-US" sz="1400" dirty="0"/>
              <a:t> o que </a:t>
            </a:r>
            <a:r>
              <a:rPr lang="en-US" sz="1400" dirty="0" err="1"/>
              <a:t>alterou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 err="1"/>
              <a:t>Não</a:t>
            </a:r>
            <a:r>
              <a:rPr lang="en-US" sz="1400" dirty="0"/>
              <a:t> é </a:t>
            </a:r>
            <a:r>
              <a:rPr lang="en-US" sz="1400" dirty="0" err="1"/>
              <a:t>possível</a:t>
            </a:r>
            <a:r>
              <a:rPr lang="en-US" sz="1400" dirty="0"/>
              <a:t> merge</a:t>
            </a:r>
            <a:endParaRPr lang="pt-BR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110271-8287-8AF2-BF81-00F90F76F3D3}"/>
              </a:ext>
            </a:extLst>
          </p:cNvPr>
          <p:cNvSpPr txBox="1"/>
          <p:nvPr/>
        </p:nvSpPr>
        <p:spPr>
          <a:xfrm>
            <a:off x="2023968" y="1679329"/>
            <a:ext cx="2275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Como </a:t>
            </a:r>
            <a:r>
              <a:rPr lang="en-US" sz="1400" b="1" dirty="0" err="1"/>
              <a:t>está</a:t>
            </a:r>
            <a:r>
              <a:rPr lang="en-US" sz="1400" b="1" dirty="0"/>
              <a:t> </a:t>
            </a:r>
            <a:r>
              <a:rPr lang="en-US" sz="1400" b="1" dirty="0" err="1"/>
              <a:t>hoje</a:t>
            </a:r>
            <a:endParaRPr lang="pt-BR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EAFECA-5F37-A374-BF84-7ACD60945613}"/>
              </a:ext>
            </a:extLst>
          </p:cNvPr>
          <p:cNvSpPr txBox="1"/>
          <p:nvPr/>
        </p:nvSpPr>
        <p:spPr>
          <a:xfrm>
            <a:off x="7006640" y="1717265"/>
            <a:ext cx="2275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Como </a:t>
            </a:r>
            <a:r>
              <a:rPr lang="en-US" sz="1400" b="1" dirty="0" err="1"/>
              <a:t>será</a:t>
            </a:r>
            <a:r>
              <a:rPr lang="en-US" sz="1400" b="1" dirty="0"/>
              <a:t> no </a:t>
            </a:r>
            <a:r>
              <a:rPr lang="en-US" sz="1400" b="1" dirty="0" err="1"/>
              <a:t>futuro</a:t>
            </a:r>
            <a:endParaRPr lang="pt-BR" sz="1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763CD3-D218-A7A9-0ADB-5AC44CCE0C52}"/>
              </a:ext>
            </a:extLst>
          </p:cNvPr>
          <p:cNvSpPr txBox="1"/>
          <p:nvPr/>
        </p:nvSpPr>
        <p:spPr>
          <a:xfrm>
            <a:off x="6674625" y="5015805"/>
            <a:ext cx="34289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Controle de </a:t>
            </a:r>
            <a:r>
              <a:rPr lang="en-US" sz="1400" dirty="0" err="1"/>
              <a:t>versionamento</a:t>
            </a:r>
            <a:r>
              <a:rPr lang="en-US" sz="1400" dirty="0"/>
              <a:t> </a:t>
            </a:r>
            <a:r>
              <a:rPr lang="en-US" sz="1400" dirty="0" err="1"/>
              <a:t>baseado</a:t>
            </a:r>
            <a:r>
              <a:rPr lang="en-US" sz="1400" dirty="0"/>
              <a:t> no </a:t>
            </a:r>
            <a:r>
              <a:rPr lang="en-US" sz="1400" dirty="0" err="1"/>
              <a:t>conteúdo</a:t>
            </a:r>
            <a:r>
              <a:rPr lang="en-US" sz="1400" dirty="0"/>
              <a:t> dos </a:t>
            </a:r>
            <a:r>
              <a:rPr lang="en-US" sz="1400" dirty="0" err="1"/>
              <a:t>arquivos</a:t>
            </a:r>
            <a:r>
              <a:rPr lang="en-US" sz="1400" dirty="0"/>
              <a:t>. </a:t>
            </a:r>
            <a:r>
              <a:rPr lang="en-US" sz="1400" dirty="0" err="1"/>
              <a:t>Significa</a:t>
            </a:r>
            <a:r>
              <a:rPr lang="en-US" sz="1400" dirty="0"/>
              <a:t> que: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É </a:t>
            </a:r>
            <a:r>
              <a:rPr lang="en-US" sz="1400" dirty="0" err="1"/>
              <a:t>possível</a:t>
            </a:r>
            <a:r>
              <a:rPr lang="en-US" sz="1400" dirty="0"/>
              <a:t> saber </a:t>
            </a:r>
            <a:r>
              <a:rPr lang="en-US" sz="1400" dirty="0" err="1"/>
              <a:t>quem</a:t>
            </a:r>
            <a:r>
              <a:rPr lang="en-US" sz="1400" dirty="0"/>
              <a:t> e </a:t>
            </a:r>
            <a:r>
              <a:rPr lang="en-US" sz="1400" dirty="0" err="1"/>
              <a:t>quem</a:t>
            </a:r>
            <a:r>
              <a:rPr lang="en-US" sz="1400" dirty="0"/>
              <a:t> </a:t>
            </a:r>
            <a:r>
              <a:rPr lang="en-US" sz="1400" dirty="0" err="1"/>
              <a:t>alterou</a:t>
            </a:r>
            <a:r>
              <a:rPr lang="en-US" sz="1400" dirty="0"/>
              <a:t> e o que </a:t>
            </a:r>
            <a:r>
              <a:rPr lang="en-US" sz="1400" dirty="0" err="1"/>
              <a:t>alterou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É </a:t>
            </a:r>
            <a:r>
              <a:rPr lang="en-US" sz="1400" dirty="0" err="1"/>
              <a:t>possível</a:t>
            </a:r>
            <a:r>
              <a:rPr lang="en-US" sz="1400" dirty="0"/>
              <a:t> </a:t>
            </a:r>
            <a:r>
              <a:rPr lang="en-US" sz="1400" dirty="0" err="1"/>
              <a:t>trabalho</a:t>
            </a:r>
            <a:r>
              <a:rPr lang="en-US" sz="1400" dirty="0"/>
              <a:t> </a:t>
            </a:r>
            <a:r>
              <a:rPr lang="en-US" sz="1400" dirty="0" err="1"/>
              <a:t>em</a:t>
            </a:r>
            <a:r>
              <a:rPr lang="en-US" sz="1400" dirty="0"/>
              <a:t> </a:t>
            </a:r>
            <a:r>
              <a:rPr lang="en-US" sz="1400" dirty="0" err="1"/>
              <a:t>colaboração</a:t>
            </a:r>
            <a:r>
              <a:rPr lang="en-US" sz="1400" dirty="0"/>
              <a:t> com merge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408155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4" grpId="0"/>
      <p:bldP spid="15" grpId="0" animBg="1"/>
      <p:bldP spid="20" grpId="0"/>
      <p:bldP spid="21" grpId="0"/>
      <p:bldP spid="22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D0DC9-A4F0-C5E0-A7B8-17B77CF3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A011-ACD4-B705-E1FE-E87DBC1F0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dirty="0">
                <a:latin typeface="+mj-lt"/>
                <a:ea typeface="+mj-ea"/>
                <a:cs typeface="+mj-cs"/>
              </a:rPr>
              <a:t>Por que </a:t>
            </a:r>
            <a:r>
              <a:rPr lang="en-US" b="0" kern="1200" dirty="0" err="1">
                <a:latin typeface="+mj-lt"/>
                <a:ea typeface="+mj-ea"/>
                <a:cs typeface="+mj-cs"/>
              </a:rPr>
              <a:t>controlar</a:t>
            </a:r>
            <a:r>
              <a:rPr lang="en-US" b="0" kern="1200" dirty="0">
                <a:latin typeface="+mj-lt"/>
                <a:ea typeface="+mj-ea"/>
                <a:cs typeface="+mj-cs"/>
              </a:rPr>
              <a:t> a </a:t>
            </a:r>
            <a:r>
              <a:rPr lang="en-US" b="0" kern="1200" dirty="0" err="1">
                <a:latin typeface="+mj-lt"/>
                <a:ea typeface="+mj-ea"/>
                <a:cs typeface="+mj-cs"/>
              </a:rPr>
              <a:t>versão</a:t>
            </a:r>
            <a:r>
              <a:rPr lang="en-US" b="0" kern="1200" dirty="0">
                <a:latin typeface="+mj-lt"/>
                <a:ea typeface="+mj-ea"/>
                <a:cs typeface="+mj-cs"/>
              </a:rPr>
              <a:t>? </a:t>
            </a:r>
          </a:p>
        </p:txBody>
      </p:sp>
      <p:graphicFrame>
        <p:nvGraphicFramePr>
          <p:cNvPr id="12" name="TextBox 9">
            <a:extLst>
              <a:ext uri="{FF2B5EF4-FFF2-40B4-BE49-F238E27FC236}">
                <a16:creationId xmlns:a16="http://schemas.microsoft.com/office/drawing/2014/main" id="{E9B3F9FB-9E91-60CF-1059-36CD9CC57C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0483473"/>
              </p:ext>
            </p:extLst>
          </p:nvPr>
        </p:nvGraphicFramePr>
        <p:xfrm>
          <a:off x="4892040" y="640081"/>
          <a:ext cx="6675120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1551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7D4B3-75EF-7B36-E0C9-3DFC01FA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- </a:t>
            </a:r>
            <a:r>
              <a:rPr lang="en-US" dirty="0" err="1"/>
              <a:t>Estratégia</a:t>
            </a:r>
            <a:r>
              <a:rPr lang="en-US" dirty="0"/>
              <a:t> de branching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4ACD0-5A9F-A9EB-4684-2D9F013D9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6088190" cy="4956047"/>
          </a:xfrm>
        </p:spPr>
        <p:txBody>
          <a:bodyPr>
            <a:normAutofit fontScale="85000" lnSpcReduction="20000"/>
          </a:bodyPr>
          <a:lstStyle/>
          <a:p>
            <a:pPr marL="457112" indent="-457112" defTabSz="914192">
              <a:spcAft>
                <a:spcPts val="1200"/>
              </a:spcAft>
            </a:pPr>
            <a:r>
              <a:rPr lang="pt-BR" b="1" dirty="0"/>
              <a:t>Desenvolva</a:t>
            </a:r>
            <a:r>
              <a:rPr lang="pt-BR" dirty="0"/>
              <a:t> seus recursos e </a:t>
            </a:r>
            <a:r>
              <a:rPr lang="pt-BR" b="1" dirty="0"/>
              <a:t>corrija</a:t>
            </a:r>
            <a:r>
              <a:rPr lang="pt-BR" dirty="0"/>
              <a:t> bugs em branches de recursos com base em seu branch principal. 
As </a:t>
            </a:r>
            <a:r>
              <a:rPr lang="pt-BR" b="1" dirty="0"/>
              <a:t>ramificações</a:t>
            </a:r>
            <a:r>
              <a:rPr lang="pt-BR" dirty="0"/>
              <a:t> de recursos </a:t>
            </a:r>
            <a:r>
              <a:rPr lang="pt-BR" b="1" dirty="0"/>
              <a:t>isolam</a:t>
            </a:r>
            <a:r>
              <a:rPr lang="pt-BR" dirty="0"/>
              <a:t> o trabalho em </a:t>
            </a:r>
            <a:r>
              <a:rPr lang="pt-BR" b="1" dirty="0"/>
              <a:t>andamento</a:t>
            </a:r>
            <a:r>
              <a:rPr lang="pt-BR" dirty="0"/>
              <a:t> do trabalho </a:t>
            </a:r>
            <a:r>
              <a:rPr lang="pt-BR" b="1" dirty="0"/>
              <a:t>concluído</a:t>
            </a:r>
            <a:r>
              <a:rPr lang="pt-BR" dirty="0"/>
              <a:t> na ramificação principal. 
As ramificações do Git são baratas de criar e manter. Mesmo pequenas correções e alterações devem ter sua própria ramificação de recursos.
As </a:t>
            </a:r>
            <a:r>
              <a:rPr lang="pt-BR" b="1" dirty="0"/>
              <a:t>PRs</a:t>
            </a:r>
            <a:r>
              <a:rPr lang="pt-BR" dirty="0"/>
              <a:t> (solicitações de pull) são uma maneira de alterar, examinar e mesclar código em um repositório Git no Azure Repos / Github. 
As PRs podem vir de ramificações de recursos. As equipes usam PRs para revisar o código e fornecer comentários sobre as alterações antes de mesclar o código no branch principal.
Os </a:t>
            </a:r>
            <a:r>
              <a:rPr lang="pt-BR" b="1" dirty="0"/>
              <a:t>revisores</a:t>
            </a:r>
            <a:r>
              <a:rPr lang="pt-BR" dirty="0"/>
              <a:t> podem percorrer as alterações propostas, deixar comentários e votar para </a:t>
            </a:r>
            <a:r>
              <a:rPr lang="pt-BR" b="1" dirty="0"/>
              <a:t>aprovar</a:t>
            </a:r>
            <a:r>
              <a:rPr lang="pt-BR" dirty="0"/>
              <a:t> ou </a:t>
            </a:r>
            <a:r>
              <a:rPr lang="pt-BR" b="1" dirty="0"/>
              <a:t>rejeitar</a:t>
            </a:r>
            <a:r>
              <a:rPr lang="pt-BR" dirty="0"/>
              <a:t> o código.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17CAF-B2C6-F275-6482-94DE25E00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796" y="1128712"/>
            <a:ext cx="4620937" cy="15317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50" name="Picture 2" descr="GIT – GIT Environment Setup – Praudyog">
            <a:extLst>
              <a:ext uri="{FF2B5EF4-FFF2-40B4-BE49-F238E27FC236}">
                <a16:creationId xmlns:a16="http://schemas.microsoft.com/office/drawing/2014/main" id="{C67F352E-8F1F-DF23-BC1A-AFFE43D14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984" y="3186113"/>
            <a:ext cx="4620937" cy="29718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736F0C-D87D-71BE-C0C9-5CF9EE562D18}"/>
              </a:ext>
            </a:extLst>
          </p:cNvPr>
          <p:cNvSpPr txBox="1"/>
          <p:nvPr/>
        </p:nvSpPr>
        <p:spPr>
          <a:xfrm>
            <a:off x="7247983" y="6180002"/>
            <a:ext cx="47703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Source: https://www.praudyog.com/git-tutorials/git-git-environment-setup/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58302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A897-BD3D-E0DF-B142-DBA2CBFF3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– </a:t>
            </a:r>
            <a:r>
              <a:rPr lang="en-US" dirty="0" err="1"/>
              <a:t>comandos</a:t>
            </a:r>
            <a:r>
              <a:rPr lang="en-US" dirty="0"/>
              <a:t> </a:t>
            </a:r>
            <a:r>
              <a:rPr lang="en-US" dirty="0" err="1"/>
              <a:t>básicos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82E7-46EC-00F2-EE4F-00854E67C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594" y="6008914"/>
            <a:ext cx="10612566" cy="3095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Source: https://codingnomads.com/git-github-tutorial-series-recap</a:t>
            </a:r>
            <a:endParaRPr lang="pt-BR" dirty="0"/>
          </a:p>
        </p:txBody>
      </p:sp>
      <p:pic>
        <p:nvPicPr>
          <p:cNvPr id="6146" name="Picture 2" descr="Git Workflow Schema">
            <a:extLst>
              <a:ext uri="{FF2B5EF4-FFF2-40B4-BE49-F238E27FC236}">
                <a16:creationId xmlns:a16="http://schemas.microsoft.com/office/drawing/2014/main" id="{905CDE71-27D2-FA5F-192B-50494E5D2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360" y="1252728"/>
            <a:ext cx="8620125" cy="47244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944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10F1-3EC3-5DAA-88A9-0740C4DD9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anchor="t">
            <a:normAutofit/>
          </a:bodyPr>
          <a:lstStyle/>
          <a:p>
            <a:r>
              <a:rPr lang="en-US" dirty="0"/>
              <a:t>Git – </a:t>
            </a:r>
            <a:r>
              <a:rPr lang="en-US" dirty="0" err="1"/>
              <a:t>Usando</a:t>
            </a:r>
            <a:r>
              <a:rPr lang="en-US" dirty="0"/>
              <a:t> o </a:t>
            </a:r>
            <a:r>
              <a:rPr lang="en-US" dirty="0" err="1"/>
              <a:t>VSCode</a:t>
            </a:r>
            <a:endParaRPr lang="pt-BR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3B22E4F-28B5-93D9-4B7A-ADDB56C0E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4029075"/>
            <a:ext cx="3200400" cy="230771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Clone</a:t>
            </a:r>
          </a:p>
          <a:p>
            <a:r>
              <a:rPr lang="en-US" dirty="0"/>
              <a:t>New Branch</a:t>
            </a:r>
          </a:p>
          <a:p>
            <a:r>
              <a:rPr lang="en-US" dirty="0"/>
              <a:t>Commit</a:t>
            </a:r>
          </a:p>
          <a:p>
            <a:r>
              <a:rPr lang="en-US" dirty="0"/>
              <a:t>Sync</a:t>
            </a:r>
          </a:p>
          <a:p>
            <a:r>
              <a:rPr lang="en-US" dirty="0"/>
              <a:t>Delete Branch</a:t>
            </a:r>
          </a:p>
          <a:p>
            <a:r>
              <a:rPr lang="en-US" dirty="0"/>
              <a:t>Pull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5466E-DFD1-034E-CD38-0B649BC6D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26" y="1400354"/>
            <a:ext cx="7305152" cy="40572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9939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346F0-5191-289F-233E-56E7B2A1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502919"/>
            <a:ext cx="3645980" cy="10725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rPr>
              <a:t>Automatizando</a:t>
            </a:r>
            <a:r>
              <a: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rPr>
              <a:t> com o </a:t>
            </a:r>
            <a:r>
              <a:rPr lang="en-US" dirty="0" err="1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rPr>
              <a:t>Github</a:t>
            </a:r>
            <a:r>
              <a: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rPr>
              <a:t> Actions</a:t>
            </a:r>
          </a:p>
        </p:txBody>
      </p:sp>
      <p:pic>
        <p:nvPicPr>
          <p:cNvPr id="5122" name="Picture 2" descr="github actions diagram">
            <a:extLst>
              <a:ext uri="{FF2B5EF4-FFF2-40B4-BE49-F238E27FC236}">
                <a16:creationId xmlns:a16="http://schemas.microsoft.com/office/drawing/2014/main" id="{8928EF52-B291-7AA7-5294-77F38E948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647" y="1821031"/>
            <a:ext cx="4181809" cy="33036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47E53-B906-5A82-51F0-1E026646A376}"/>
              </a:ext>
            </a:extLst>
          </p:cNvPr>
          <p:cNvSpPr txBox="1">
            <a:spLocks/>
          </p:cNvSpPr>
          <p:nvPr/>
        </p:nvSpPr>
        <p:spPr>
          <a:xfrm>
            <a:off x="5212227" y="502919"/>
            <a:ext cx="6354933" cy="58155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700" dirty="0"/>
              <a:t>Actions </a:t>
            </a:r>
            <a:r>
              <a:rPr lang="en-US" sz="1700" dirty="0" err="1"/>
              <a:t>são</a:t>
            </a:r>
            <a:r>
              <a:rPr lang="en-US" sz="1700" dirty="0"/>
              <a:t> </a:t>
            </a:r>
            <a:r>
              <a:rPr lang="en-US" sz="1700" dirty="0" err="1"/>
              <a:t>reutilizáveis</a:t>
            </a:r>
            <a:r>
              <a:rPr lang="en-US" sz="1700" dirty="0"/>
              <a:t>. 
Workflow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1500" dirty="0"/>
              <a:t>É o </a:t>
            </a:r>
            <a:r>
              <a:rPr lang="en-US" sz="1500" dirty="0" err="1"/>
              <a:t>processo</a:t>
            </a:r>
            <a:r>
              <a:rPr lang="en-US" sz="1500" dirty="0"/>
              <a:t> </a:t>
            </a:r>
            <a:r>
              <a:rPr lang="en-US" sz="1500" dirty="0" err="1"/>
              <a:t>automatizado</a:t>
            </a:r>
            <a:endParaRPr lang="en-US" sz="1500" dirty="0"/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1500" dirty="0"/>
              <a:t>É </a:t>
            </a:r>
            <a:r>
              <a:rPr lang="en-US" sz="1500" dirty="0" err="1"/>
              <a:t>executado</a:t>
            </a:r>
            <a:r>
              <a:rPr lang="en-US" sz="1500" dirty="0"/>
              <a:t> </a:t>
            </a:r>
            <a:r>
              <a:rPr lang="en-US" sz="1500" dirty="0" err="1"/>
              <a:t>nos</a:t>
            </a:r>
            <a:r>
              <a:rPr lang="en-US" sz="1500" dirty="0"/>
              <a:t> runners, que </a:t>
            </a:r>
            <a:r>
              <a:rPr lang="en-US" sz="1500" dirty="0" err="1"/>
              <a:t>são</a:t>
            </a:r>
            <a:r>
              <a:rPr lang="en-US" sz="1500" dirty="0"/>
              <a:t> </a:t>
            </a:r>
            <a:r>
              <a:rPr lang="en-US" sz="1500" dirty="0" err="1"/>
              <a:t>máquinas</a:t>
            </a:r>
            <a:r>
              <a:rPr lang="en-US" sz="1500" dirty="0"/>
              <a:t> </a:t>
            </a:r>
            <a:r>
              <a:rPr lang="en-US" sz="1500" dirty="0" err="1"/>
              <a:t>virtuais</a:t>
            </a:r>
            <a:r>
              <a:rPr lang="en-US" sz="1500" dirty="0"/>
              <a:t> (windows, </a:t>
            </a:r>
            <a:r>
              <a:rPr lang="en-US" sz="1500" dirty="0" err="1"/>
              <a:t>linux</a:t>
            </a:r>
            <a:r>
              <a:rPr lang="en-US" sz="1500" dirty="0"/>
              <a:t> e macOS) </a:t>
            </a:r>
            <a:r>
              <a:rPr lang="en-US" sz="1500" dirty="0" err="1"/>
              <a:t>mantidas</a:t>
            </a:r>
            <a:r>
              <a:rPr lang="en-US" sz="1500" dirty="0"/>
              <a:t> </a:t>
            </a:r>
            <a:r>
              <a:rPr lang="en-US" sz="1500" dirty="0" err="1"/>
              <a:t>pelo</a:t>
            </a:r>
            <a:r>
              <a:rPr lang="en-US" sz="1500" dirty="0"/>
              <a:t> </a:t>
            </a:r>
            <a:r>
              <a:rPr lang="en-US" sz="1500" dirty="0" err="1"/>
              <a:t>github</a:t>
            </a:r>
            <a:r>
              <a:rPr lang="en-US" sz="1500" dirty="0"/>
              <a:t> (GitHub-hosted) </a:t>
            </a:r>
            <a:r>
              <a:rPr lang="en-US" sz="1500" dirty="0" err="1"/>
              <a:t>ou</a:t>
            </a:r>
            <a:r>
              <a:rPr lang="en-US" sz="1500" dirty="0"/>
              <a:t> </a:t>
            </a:r>
            <a:r>
              <a:rPr lang="en-US" sz="1500" dirty="0" err="1"/>
              <a:t>por</a:t>
            </a:r>
            <a:r>
              <a:rPr lang="en-US" sz="1500" dirty="0"/>
              <a:t> voce (self-hosted).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1500" dirty="0" err="1"/>
              <a:t>Execução</a:t>
            </a:r>
            <a:r>
              <a:rPr lang="en-US" sz="1500" dirty="0"/>
              <a:t> </a:t>
            </a:r>
            <a:r>
              <a:rPr lang="en-US" sz="1500" dirty="0" err="1"/>
              <a:t>iniciada</a:t>
            </a:r>
            <a:r>
              <a:rPr lang="en-US" sz="1500" dirty="0"/>
              <a:t> </a:t>
            </a:r>
            <a:r>
              <a:rPr lang="en-US" sz="1500" dirty="0" err="1"/>
              <a:t>manualmente</a:t>
            </a:r>
            <a:r>
              <a:rPr lang="en-US" sz="1500" dirty="0"/>
              <a:t> </a:t>
            </a:r>
            <a:r>
              <a:rPr lang="en-US" sz="1500" dirty="0" err="1"/>
              <a:t>ou</a:t>
            </a:r>
            <a:r>
              <a:rPr lang="en-US" sz="1500" dirty="0"/>
              <a:t> </a:t>
            </a:r>
            <a:r>
              <a:rPr lang="en-US" sz="1500" dirty="0" err="1"/>
              <a:t>através</a:t>
            </a:r>
            <a:r>
              <a:rPr lang="en-US" sz="1500" dirty="0"/>
              <a:t> de </a:t>
            </a:r>
            <a:r>
              <a:rPr lang="en-US" sz="1500" dirty="0" err="1"/>
              <a:t>eventos</a:t>
            </a:r>
            <a:r>
              <a:rPr lang="en-US" sz="1500" dirty="0"/>
              <a:t> 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1500" dirty="0"/>
              <a:t>Se </a:t>
            </a:r>
            <a:r>
              <a:rPr lang="en-US" sz="1500" dirty="0" err="1"/>
              <a:t>localiza</a:t>
            </a:r>
            <a:r>
              <a:rPr lang="en-US" sz="1500" dirty="0"/>
              <a:t> </a:t>
            </a:r>
            <a:r>
              <a:rPr lang="en-US" sz="1500" dirty="0" err="1"/>
              <a:t>em</a:t>
            </a:r>
            <a:r>
              <a:rPr lang="en-US" sz="1500" dirty="0"/>
              <a:t> .</a:t>
            </a:r>
            <a:r>
              <a:rPr lang="en-US" sz="1500" dirty="0" err="1"/>
              <a:t>github</a:t>
            </a:r>
            <a:r>
              <a:rPr lang="en-US" sz="1500" dirty="0"/>
              <a:t>/workflows.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dirty="0">
                <a:hlinkClick r:id="rId3"/>
              </a:rPr>
              <a:t>Yaml files</a:t>
            </a:r>
            <a:r>
              <a:rPr lang="en-US" dirty="0"/>
              <a:t>.</a:t>
            </a:r>
            <a:endParaRPr lang="en-US" sz="1500" dirty="0"/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700" dirty="0"/>
              <a:t>Job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1500" dirty="0"/>
              <a:t>É </a:t>
            </a:r>
            <a:r>
              <a:rPr lang="en-US" sz="1500" dirty="0" err="1"/>
              <a:t>uma</a:t>
            </a:r>
            <a:r>
              <a:rPr lang="en-US" sz="1500" dirty="0"/>
              <a:t> </a:t>
            </a:r>
            <a:r>
              <a:rPr lang="en-US" sz="1500" dirty="0" err="1"/>
              <a:t>sequência</a:t>
            </a:r>
            <a:r>
              <a:rPr lang="en-US" sz="1500" dirty="0"/>
              <a:t> de </a:t>
            </a:r>
            <a:r>
              <a:rPr lang="en-US" sz="1500" dirty="0" err="1"/>
              <a:t>tarefas</a:t>
            </a:r>
            <a:r>
              <a:rPr lang="en-US" sz="1500" dirty="0"/>
              <a:t> a </a:t>
            </a:r>
            <a:r>
              <a:rPr lang="en-US" sz="1500" dirty="0" err="1"/>
              <a:t>serem</a:t>
            </a:r>
            <a:r>
              <a:rPr lang="en-US" sz="1500" dirty="0"/>
              <a:t> </a:t>
            </a:r>
            <a:r>
              <a:rPr lang="en-US" sz="1500" dirty="0" err="1"/>
              <a:t>executadas</a:t>
            </a:r>
            <a:r>
              <a:rPr lang="en-US" sz="1500" dirty="0"/>
              <a:t>. 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1500" dirty="0" err="1"/>
              <a:t>Dentro</a:t>
            </a:r>
            <a:r>
              <a:rPr lang="en-US" sz="1500" dirty="0"/>
              <a:t> de um workflow </a:t>
            </a:r>
            <a:r>
              <a:rPr lang="en-US" sz="1500" dirty="0" err="1"/>
              <a:t>pode</a:t>
            </a:r>
            <a:r>
              <a:rPr lang="en-US" sz="1500" dirty="0"/>
              <a:t> haver 1 </a:t>
            </a:r>
            <a:r>
              <a:rPr lang="en-US" sz="1500" dirty="0" err="1"/>
              <a:t>ou</a:t>
            </a:r>
            <a:r>
              <a:rPr lang="en-US" sz="1500" dirty="0"/>
              <a:t> </a:t>
            </a:r>
            <a:r>
              <a:rPr lang="en-US" sz="1500" dirty="0" err="1"/>
              <a:t>mais</a:t>
            </a:r>
            <a:r>
              <a:rPr lang="en-US" sz="1500" dirty="0"/>
              <a:t> jobs. 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1500" dirty="0"/>
              <a:t>Jobs </a:t>
            </a:r>
            <a:r>
              <a:rPr lang="en-US" sz="1500" dirty="0" err="1"/>
              <a:t>podem</a:t>
            </a:r>
            <a:r>
              <a:rPr lang="en-US" sz="1500" dirty="0"/>
              <a:t> ser </a:t>
            </a:r>
            <a:r>
              <a:rPr lang="en-US" sz="1500" dirty="0" err="1"/>
              <a:t>executados</a:t>
            </a:r>
            <a:r>
              <a:rPr lang="en-US" sz="1500" dirty="0"/>
              <a:t> </a:t>
            </a:r>
            <a:r>
              <a:rPr lang="en-US" sz="1500" dirty="0" err="1"/>
              <a:t>em</a:t>
            </a:r>
            <a:r>
              <a:rPr lang="en-US" sz="1500" dirty="0"/>
              <a:t> </a:t>
            </a:r>
            <a:r>
              <a:rPr lang="en-US" sz="1500" dirty="0" err="1"/>
              <a:t>paralelo</a:t>
            </a:r>
            <a:r>
              <a:rPr lang="en-US" sz="1500" dirty="0"/>
              <a:t> </a:t>
            </a:r>
            <a:r>
              <a:rPr lang="en-US" sz="1500" dirty="0" err="1"/>
              <a:t>ou</a:t>
            </a:r>
            <a:r>
              <a:rPr lang="en-US" sz="1500" dirty="0"/>
              <a:t> </a:t>
            </a:r>
            <a:r>
              <a:rPr lang="en-US" sz="1500" dirty="0" err="1"/>
              <a:t>sequência</a:t>
            </a:r>
            <a:r>
              <a:rPr lang="en-US" sz="1500" dirty="0"/>
              <a:t>.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700" dirty="0"/>
              <a:t>Step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1500" dirty="0"/>
              <a:t>É </a:t>
            </a:r>
            <a:r>
              <a:rPr lang="en-US" sz="1500" dirty="0" err="1"/>
              <a:t>uma</a:t>
            </a:r>
            <a:r>
              <a:rPr lang="en-US" sz="1500" dirty="0"/>
              <a:t> </a:t>
            </a:r>
            <a:r>
              <a:rPr lang="en-US" sz="1500" dirty="0" err="1"/>
              <a:t>tarefa</a:t>
            </a:r>
            <a:r>
              <a:rPr lang="en-US" sz="1500" dirty="0"/>
              <a:t> individual a ser </a:t>
            </a:r>
            <a:r>
              <a:rPr lang="en-US" sz="1500" dirty="0" err="1"/>
              <a:t>executada</a:t>
            </a:r>
            <a:r>
              <a:rPr lang="en-US" sz="1500" dirty="0"/>
              <a:t>. 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US" sz="1500" dirty="0"/>
              <a:t>Pode ser um commando, um script, </a:t>
            </a:r>
            <a:r>
              <a:rPr lang="en-US" sz="1500" dirty="0" err="1"/>
              <a:t>etc</a:t>
            </a:r>
            <a:r>
              <a:rPr lang="en-US" sz="1500" dirty="0"/>
              <a:t> para </a:t>
            </a:r>
            <a:r>
              <a:rPr lang="en-US" sz="1500" dirty="0" err="1"/>
              <a:t>compilar</a:t>
            </a:r>
            <a:r>
              <a:rPr lang="en-US" sz="1500" dirty="0"/>
              <a:t>, </a:t>
            </a:r>
            <a:r>
              <a:rPr lang="en-US" sz="1500" dirty="0" err="1"/>
              <a:t>testar</a:t>
            </a:r>
            <a:r>
              <a:rPr lang="en-US" sz="1500" dirty="0"/>
              <a:t>, </a:t>
            </a:r>
            <a:r>
              <a:rPr lang="en-US" sz="1500" dirty="0" err="1"/>
              <a:t>copiar</a:t>
            </a:r>
            <a:r>
              <a:rPr lang="en-US" sz="1500" dirty="0"/>
              <a:t>, </a:t>
            </a:r>
            <a:r>
              <a:rPr lang="en-US" sz="1500" dirty="0" err="1"/>
              <a:t>instalar</a:t>
            </a:r>
            <a:r>
              <a:rPr lang="en-US" sz="1500" dirty="0"/>
              <a:t> </a:t>
            </a:r>
            <a:r>
              <a:rPr lang="en-US" sz="1500" dirty="0" err="1"/>
              <a:t>alguma</a:t>
            </a:r>
            <a:r>
              <a:rPr lang="en-US" sz="1500" dirty="0"/>
              <a:t> </a:t>
            </a:r>
            <a:r>
              <a:rPr lang="en-US" sz="1500" dirty="0" err="1"/>
              <a:t>dependência</a:t>
            </a:r>
            <a:r>
              <a:rPr lang="en-US" sz="15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71142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875AD-A35B-7BFB-996C-5161D2D0F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8E52-5B92-1054-D471-93941805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502919"/>
            <a:ext cx="3645980" cy="10725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rPr>
              <a:t>Automatizando</a:t>
            </a:r>
            <a:r>
              <a: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rPr>
              <a:t> com o </a:t>
            </a:r>
            <a:r>
              <a:rPr lang="en-US" dirty="0" err="1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rPr>
              <a:t>Github</a:t>
            </a:r>
            <a:r>
              <a: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rPr>
              <a:t> Actions</a:t>
            </a:r>
          </a:p>
        </p:txBody>
      </p:sp>
      <p:pic>
        <p:nvPicPr>
          <p:cNvPr id="5122" name="Picture 2" descr="github actions diagram">
            <a:extLst>
              <a:ext uri="{FF2B5EF4-FFF2-40B4-BE49-F238E27FC236}">
                <a16:creationId xmlns:a16="http://schemas.microsoft.com/office/drawing/2014/main" id="{6499FABF-E37F-F7D9-EF2B-706D5A29F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840" y="2161142"/>
            <a:ext cx="4181809" cy="33036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E66BC5-B805-83FA-5AFD-D8CC1AA68C7A}"/>
              </a:ext>
            </a:extLst>
          </p:cNvPr>
          <p:cNvSpPr txBox="1"/>
          <p:nvPr/>
        </p:nvSpPr>
        <p:spPr>
          <a:xfrm>
            <a:off x="5101755" y="919424"/>
            <a:ext cx="6544587" cy="2483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pt-BR" sz="1300" dirty="0"/>
              <a:t>Exemplo Hellow Word: </a:t>
            </a:r>
          </a:p>
          <a:p>
            <a:pPr marL="285750" indent="-28575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sz="1300" dirty="0"/>
          </a:p>
          <a:p>
            <a:pPr marL="285750" indent="-28575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300" dirty="0"/>
              <a:t>Eventos de gatilho: a palavra-chave on especifica o evento que aciona o fluxo de trabalho. Neste exemplo, ele é disparado por qualquer push para o repositório.
Ambiente do runner: a palavra-chave runs-on especifica o ambiente para executar o trabalho. Aqui, ele usa ubuntu-latest.
Etapas: Cada job consiste em etapas que executam comandos ou ações. A palavra-chave run é usada para executar comandos shell, por exemplo.</a:t>
            </a:r>
          </a:p>
          <a:p>
            <a:pPr marL="285750" indent="-28575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300" dirty="0"/>
              <a:t>No exemplo, o arquivo helloworld.yml deve ser criado na pasta .github\workflows</a:t>
            </a:r>
            <a:endParaRPr lang="en-US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7B9BB-F7AA-F1B0-A76A-8BFE9332C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428" y="3571681"/>
            <a:ext cx="4429743" cy="27816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1134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ABC1-F8BB-9A42-F98A-B0E3611A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dirty="0"/>
              <a:t>Como </a:t>
            </a:r>
            <a:r>
              <a:rPr lang="en-US" dirty="0" err="1"/>
              <a:t>começar</a:t>
            </a:r>
            <a:r>
              <a:rPr lang="en-US" dirty="0"/>
              <a:t>? 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B54E-6789-9B5A-3934-511D915AFBD4}"/>
              </a:ext>
            </a:extLst>
          </p:cNvPr>
          <p:cNvSpPr txBox="1">
            <a:spLocks/>
          </p:cNvSpPr>
          <p:nvPr/>
        </p:nvSpPr>
        <p:spPr>
          <a:xfrm>
            <a:off x="5913782" y="566529"/>
            <a:ext cx="5653377" cy="5751973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dirty="0" err="1"/>
              <a:t>Capacitação</a:t>
            </a:r>
            <a:r>
              <a:rPr lang="en-US" sz="2800" dirty="0"/>
              <a:t>: </a:t>
            </a:r>
          </a:p>
          <a:p>
            <a:pPr lvl="1"/>
            <a:r>
              <a:rPr lang="en-US" sz="2600" dirty="0"/>
              <a:t>Workshops e </a:t>
            </a:r>
            <a:r>
              <a:rPr lang="en-US" sz="2600" dirty="0" err="1"/>
              <a:t>laboratórios</a:t>
            </a:r>
            <a:r>
              <a:rPr lang="en-US" sz="2600" dirty="0"/>
              <a:t> (</a:t>
            </a:r>
            <a:r>
              <a:rPr lang="en-US" sz="2600" dirty="0">
                <a:hlinkClick r:id="rId2"/>
              </a:rPr>
              <a:t>https://learn.microsoft.com/en-us/training/modules/optimize-model-power-bi/</a:t>
            </a:r>
            <a:r>
              <a:rPr lang="en-US" sz="2600" dirty="0"/>
              <a:t>)</a:t>
            </a:r>
          </a:p>
          <a:p>
            <a:pPr lvl="1"/>
            <a:r>
              <a:rPr lang="en-US" sz="2600" dirty="0"/>
              <a:t>Veja a grade de </a:t>
            </a:r>
            <a:r>
              <a:rPr lang="en-US" sz="2600" dirty="0" err="1"/>
              <a:t>treinamentos</a:t>
            </a:r>
            <a:r>
              <a:rPr lang="en-US" sz="2600" dirty="0"/>
              <a:t> </a:t>
            </a:r>
            <a:r>
              <a:rPr lang="en-US" sz="2600" dirty="0" err="1"/>
              <a:t>completa</a:t>
            </a:r>
            <a:r>
              <a:rPr lang="en-US" sz="2600" dirty="0"/>
              <a:t>: </a:t>
            </a:r>
            <a:r>
              <a:rPr lang="en-US" sz="2800" dirty="0">
                <a:hlinkClick r:id="rId3"/>
              </a:rPr>
              <a:t>Browse all training - Training | Microsoft Learn</a:t>
            </a:r>
            <a:endParaRPr lang="en-US" sz="2800" dirty="0"/>
          </a:p>
          <a:p>
            <a:pPr marL="228600" lvl="1" indent="0">
              <a:buNone/>
            </a:pPr>
            <a:endParaRPr lang="en-US" sz="2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 err="1"/>
              <a:t>Adoção</a:t>
            </a:r>
            <a:r>
              <a:rPr lang="en-US" sz="2800" dirty="0"/>
              <a:t> de </a:t>
            </a:r>
            <a:r>
              <a:rPr lang="en-US" sz="2800" dirty="0" err="1"/>
              <a:t>práticas</a:t>
            </a:r>
            <a:r>
              <a:rPr lang="en-US" sz="2800" dirty="0"/>
              <a:t> </a:t>
            </a:r>
            <a:r>
              <a:rPr lang="en-US" sz="2800" dirty="0" err="1"/>
              <a:t>iniciais</a:t>
            </a:r>
            <a:r>
              <a:rPr lang="en-US" sz="2800"/>
              <a:t> de </a:t>
            </a:r>
            <a:r>
              <a:rPr lang="en-US" sz="2800" dirty="0" err="1"/>
              <a:t>monitoramento</a:t>
            </a:r>
            <a:r>
              <a:rPr lang="en-US" sz="2800" dirty="0"/>
              <a:t> e </a:t>
            </a:r>
            <a:r>
              <a:rPr lang="en-US" sz="2800" dirty="0" err="1"/>
              <a:t>otimização</a:t>
            </a:r>
            <a:r>
              <a:rPr lang="en-US" sz="2800" dirty="0"/>
              <a:t> de performance:</a:t>
            </a:r>
          </a:p>
          <a:p>
            <a:pPr lvl="1"/>
            <a:r>
              <a:rPr lang="en-US" sz="2600" dirty="0" err="1"/>
              <a:t>Manuais</a:t>
            </a:r>
            <a:endParaRPr lang="en-US" sz="2600" dirty="0"/>
          </a:p>
          <a:p>
            <a:pPr lvl="1"/>
            <a:r>
              <a:rPr lang="en-US" sz="2600" dirty="0"/>
              <a:t>Pontuais</a:t>
            </a:r>
          </a:p>
          <a:p>
            <a:pPr lvl="1"/>
            <a:r>
              <a:rPr lang="en-US" sz="2600" dirty="0" err="1"/>
              <a:t>Graduais</a:t>
            </a:r>
            <a:endParaRPr lang="en-US" sz="2600" dirty="0"/>
          </a:p>
          <a:p>
            <a:pPr marL="228600" lvl="1" indent="0">
              <a:buFont typeface="Arial" panose="020B0604020202020204" pitchFamily="34" charset="0"/>
              <a:buNone/>
            </a:pPr>
            <a:endParaRPr lang="en-US" sz="2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 err="1"/>
              <a:t>Adoção</a:t>
            </a:r>
            <a:r>
              <a:rPr lang="en-US" sz="2800" dirty="0"/>
              <a:t> de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esteira</a:t>
            </a:r>
            <a:r>
              <a:rPr lang="en-US" sz="2800" dirty="0"/>
              <a:t> de CI/CD</a:t>
            </a:r>
          </a:p>
          <a:p>
            <a:pPr lvl="1"/>
            <a:r>
              <a:rPr lang="pt-BR" sz="2400" dirty="0"/>
              <a:t>Versionamento </a:t>
            </a:r>
          </a:p>
          <a:p>
            <a:pPr lvl="1"/>
            <a:r>
              <a:rPr lang="pt-BR" sz="2400" dirty="0"/>
              <a:t>CI/CD com Github Actions &amp; Deployment pipeline no Fabric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4960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5213-2544-5D3B-378B-7ABA2B47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94BE9-B654-456D-8270-029B824A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dirty="0"/>
              <a:t>Labs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4927E-778D-B6E3-F478-A3CD27A1E396}"/>
              </a:ext>
            </a:extLst>
          </p:cNvPr>
          <p:cNvSpPr txBox="1">
            <a:spLocks/>
          </p:cNvSpPr>
          <p:nvPr/>
        </p:nvSpPr>
        <p:spPr>
          <a:xfrm>
            <a:off x="5913782" y="566529"/>
            <a:ext cx="5653377" cy="57519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Performance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Git – commandos </a:t>
            </a:r>
            <a:r>
              <a:rPr lang="en-US" sz="2800" dirty="0" err="1"/>
              <a:t>básicos</a:t>
            </a:r>
            <a:endParaRPr lang="en-US" sz="2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CD/CD </a:t>
            </a:r>
            <a:r>
              <a:rPr lang="en-US" sz="2800" dirty="0" err="1"/>
              <a:t>Github</a:t>
            </a:r>
            <a:endParaRPr lang="en-US" sz="2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2551499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29FA-7FAB-0CE0-0F58-56574EA7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Referências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61ACC-5679-CCCE-B9EB-803FCDB2AB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62502" y="215900"/>
            <a:ext cx="5509458" cy="6475476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Power BI documentation - Power BI | Microsoft Learn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Power BI Desktop projects (PBIP) - Power BI | Microsoft Learn </a:t>
            </a:r>
            <a:endParaRPr lang="en-US" dirty="0"/>
          </a:p>
          <a:p>
            <a:r>
              <a:rPr lang="pt-BR" dirty="0">
                <a:hlinkClick r:id="rId4"/>
              </a:rPr>
              <a:t>https://community.fabric.microsoft.com/t5/Power-BI-forums/ct-p/powerbi</a:t>
            </a:r>
            <a:endParaRPr lang="pt-BR" dirty="0"/>
          </a:p>
          <a:p>
            <a:r>
              <a:rPr lang="pt-BR" dirty="0">
                <a:hlinkClick r:id="rId5"/>
              </a:rPr>
              <a:t>https://censius.ai/blogs/version-control-importance</a:t>
            </a:r>
            <a:endParaRPr lang="pt-BR" dirty="0"/>
          </a:p>
          <a:p>
            <a:r>
              <a:rPr lang="pt-BR" dirty="0">
                <a:hlinkClick r:id="rId6"/>
              </a:rPr>
              <a:t>https://docs.github.com/pt/actions</a:t>
            </a:r>
            <a:endParaRPr lang="pt-BR" dirty="0"/>
          </a:p>
          <a:p>
            <a:r>
              <a:rPr lang="pt-BR" dirty="0">
                <a:hlinkClick r:id="rId7"/>
              </a:rPr>
              <a:t>https://codingnomads.com/git-github-tutorial-series-recap</a:t>
            </a:r>
            <a:endParaRPr lang="pt-BR" dirty="0"/>
          </a:p>
          <a:p>
            <a:r>
              <a:rPr lang="pt-BR" dirty="0">
                <a:hlinkClick r:id="rId8"/>
              </a:rPr>
              <a:t>https://docs.github.com/en/get-started/using-git/getting-changes-from-a-remote-repository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0438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1258-9432-38E0-88AB-0776E521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anchor="b">
            <a:normAutofit/>
          </a:bodyPr>
          <a:lstStyle/>
          <a:p>
            <a:r>
              <a:rPr lang="en-US" dirty="0"/>
              <a:t>Thank you!</a:t>
            </a:r>
            <a:endParaRPr lang="pt-BR" dirty="0"/>
          </a:p>
        </p:txBody>
      </p:sp>
      <p:pic>
        <p:nvPicPr>
          <p:cNvPr id="4" name="Picture 3" descr="Aeron available in the Microsoft Azure Marketplace">
            <a:extLst>
              <a:ext uri="{FF2B5EF4-FFF2-40B4-BE49-F238E27FC236}">
                <a16:creationId xmlns:a16="http://schemas.microsoft.com/office/drawing/2014/main" id="{1E14F013-19B5-B2D3-F5C0-CE7CAA0C03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0"/>
            <a:ext cx="2819400" cy="9321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502758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10339</TotalTime>
  <Words>3149</Words>
  <Application>Microsoft Office PowerPoint</Application>
  <PresentationFormat>Widescreen</PresentationFormat>
  <Paragraphs>408</Paragraphs>
  <Slides>26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Light</vt:lpstr>
      <vt:lpstr>Arial</vt:lpstr>
      <vt:lpstr>Chroma</vt:lpstr>
      <vt:lpstr>Relatórios Power BI Otimização de Performance</vt:lpstr>
      <vt:lpstr>Agenda </vt:lpstr>
      <vt:lpstr>Requisitos</vt:lpstr>
      <vt:lpstr>Otimização de Performance de relatórios de Power BI  Critérios para eficiência</vt:lpstr>
      <vt:lpstr>Do panorâmico ao zoom analítico</vt:lpstr>
      <vt:lpstr>Monitoramento – Microsoft Capacity Metrics App</vt:lpstr>
      <vt:lpstr>Análise: Investigar relatórios específicos</vt:lpstr>
      <vt:lpstr>Análise: Investigar relatórios específicos</vt:lpstr>
      <vt:lpstr>Análise: Investigar relatórios específicos</vt:lpstr>
      <vt:lpstr>Otimização: Planejamento e Implementação de Boas práticas</vt:lpstr>
      <vt:lpstr>Otimização: Planejamento e Implementação</vt:lpstr>
      <vt:lpstr>Esteira de CI/CD para relatórios de Power BI</vt:lpstr>
      <vt:lpstr>Opções de Deployment automatizado de relatórios PBI</vt:lpstr>
      <vt:lpstr>Por que automatizar o deployment? </vt:lpstr>
      <vt:lpstr>Versionamento de fonte</vt:lpstr>
      <vt:lpstr>Versionamento de relatórios Power BI</vt:lpstr>
      <vt:lpstr>Por que controlar a versão? </vt:lpstr>
      <vt:lpstr>Git - Estratégia de branching</vt:lpstr>
      <vt:lpstr>Git – comandos básicos</vt:lpstr>
      <vt:lpstr>Git – Usando o VSCode</vt:lpstr>
      <vt:lpstr>Automatizando com o Github Actions</vt:lpstr>
      <vt:lpstr>Automatizando com o Github Actions</vt:lpstr>
      <vt:lpstr>Como começar? </vt:lpstr>
      <vt:lpstr>Labs</vt:lpstr>
      <vt:lpstr>Referências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de Lima Masson Guimarães</dc:creator>
  <cp:lastModifiedBy>Marta de Lima Masson Guimarães</cp:lastModifiedBy>
  <cp:revision>1</cp:revision>
  <dcterms:created xsi:type="dcterms:W3CDTF">2025-06-05T12:33:56Z</dcterms:created>
  <dcterms:modified xsi:type="dcterms:W3CDTF">2026-06-24T14:37:21Z</dcterms:modified>
</cp:coreProperties>
</file>